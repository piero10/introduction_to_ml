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20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33"/>
  </p:notesMasterIdLst>
  <p:sldIdLst>
    <p:sldId id="271" r:id="rId3"/>
    <p:sldId id="326" r:id="rId4"/>
    <p:sldId id="327" r:id="rId5"/>
    <p:sldId id="329" r:id="rId6"/>
    <p:sldId id="352" r:id="rId7"/>
    <p:sldId id="341" r:id="rId8"/>
    <p:sldId id="342" r:id="rId9"/>
    <p:sldId id="328" r:id="rId10"/>
    <p:sldId id="330" r:id="rId11"/>
    <p:sldId id="331" r:id="rId12"/>
    <p:sldId id="332" r:id="rId13"/>
    <p:sldId id="349" r:id="rId14"/>
    <p:sldId id="333" r:id="rId15"/>
    <p:sldId id="338" r:id="rId16"/>
    <p:sldId id="334" r:id="rId17"/>
    <p:sldId id="335" r:id="rId18"/>
    <p:sldId id="336" r:id="rId19"/>
    <p:sldId id="350" r:id="rId20"/>
    <p:sldId id="351" r:id="rId21"/>
    <p:sldId id="337" r:id="rId22"/>
    <p:sldId id="344" r:id="rId23"/>
    <p:sldId id="339" r:id="rId24"/>
    <p:sldId id="347" r:id="rId25"/>
    <p:sldId id="348" r:id="rId26"/>
    <p:sldId id="345" r:id="rId27"/>
    <p:sldId id="340" r:id="rId28"/>
    <p:sldId id="343" r:id="rId29"/>
    <p:sldId id="353" r:id="rId30"/>
    <p:sldId id="354" r:id="rId31"/>
    <p:sldId id="346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7FA728-1AD8-4869-9260-0FFEE38EFA66}">
  <a:tblStyle styleId="{647FA728-1AD8-4869-9260-0FFEE38EFA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70218" autoAdjust="0"/>
  </p:normalViewPr>
  <p:slideViewPr>
    <p:cSldViewPr snapToGrid="0">
      <p:cViewPr varScale="1">
        <p:scale>
          <a:sx n="74" d="100"/>
          <a:sy n="74" d="100"/>
        </p:scale>
        <p:origin x="1001" y="31"/>
      </p:cViewPr>
      <p:guideLst>
        <p:guide orient="horz" pos="162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6:52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5:13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16842 452 24575,'-40'-14'0,"0"1"0,-1 2 0,-42-5 0,-129-7 0,205 22 0,-1160-30-543,548 27 289,-2283-197-914,774 64 329,-455 142 3643,1912 10-2804,27-1 0,457-15 0,-450 21 0,313 42 0,77-10 0,-935 65 0,877-96 0,-1191 21 0,714 21 0,746-58 0,-52 5 0,-199 33 0,280-41 0,0 0 0,0 1 0,0-1 0,0 1 0,1 1 0,-1-1 0,1 1 0,0 0 0,0 1 0,0-1 0,1 1 0,0 0 0,0 1 0,0-1 0,0 1 0,1 0 0,0 0 0,0 0 0,1 1 0,-1-1 0,2 1 0,-1 0 0,-3 14 0,4-11 0,0 0 0,1 0 0,0 1 0,1-1 0,0 0 0,0 1 0,1-1 0,1 0 0,0 1 0,0-1 0,1 0 0,0 0 0,1-1 0,0 1 0,0-1 0,10 15 0,6 3 57,1 0 0,1-2 0,1 0 0,1-2 0,32 24 0,44 25-1069,1-9-3971,-54-38 4700,1-1 1,0-3-1,2-2 0,78 20 1,-20-16 423,128 11 0,371 20 2741,138 17 920,1481 161-4304,-1366-193 88,46 2-23,150 56-95,408 24-331,-172-78 871,-14-58-1,-1041-3 650,-2-10 0,284-72 0,-313 55-369,2 8-1,303-13 0,601 61-287,-252 5 0,-609-24 0,-199 4 0,1-3 0,83-21 0,-129 27 0,0-1 0,0 0 0,-1 0 0,1-1 0,-1 1 0,0-1 0,0-1 0,0 1 0,0-1 0,0 0 0,-1-1 0,0 1 0,0-1 0,0 0 0,0 0 0,-1 0 0,0-1 0,0 0 0,0 0 0,-1 0 0,0 0 0,5-13 0,-5 11 0,2 0 0,-1 0 0,1 0 0,0 1 0,1 0 0,0 0 0,0 0 0,1 1 0,-1-1 0,1 2 0,12-8 0,8-4 0,59-25 0,-11 5 0,-10 1 0,106-81 0,-150 100 0,0 0 0,-1-2 0,-1 0 0,-1-1 0,-1-1 0,0-1 0,-2 0 0,18-34 0,-29 46 0,0 0 0,-1 0 0,1 0 0,-2-1 0,0 1 0,0-1 0,-1 1 0,0-1 0,0 0 0,-2 0 0,1 1 0,-1-1 0,-1 0 0,0 1 0,0-1 0,-6-13 0,3 11 0,-1 1 0,0 1 0,0-1 0,-1 1 0,-1 0 0,0 0 0,-1 1 0,0 0 0,0 1 0,-1 0 0,0 0 0,-20-12 0,-74-36-1365,78 45-5461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5:21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186 341 24575,'-28'26'0,"19"-19"0,1 1 0,0 0 0,0 0 0,1 1 0,0 0 0,0 0 0,-5 11 0,-10 24 0,-22 65 0,37-88 0,2 0 0,0 0 0,1 1 0,2-1 0,-1 38 0,3-46 0,1 23 0,0 0 0,8 36 0,-7-59 0,1 0 0,1-1 0,0 1 0,1-1 0,0 0 0,1 0 0,1-1 0,-1 1 0,11 11 0,2-1 0,1-2 0,1 0 0,0-1 0,2 0 0,0-2 0,1-1 0,1-1 0,0-1 0,42 16 0,6-2 0,1-4 0,102 20 0,81-1 0,266 9 0,-381-40 0,1766 18 0,-1672-40 0,337-25 0,-410 21 0,245 12 0,166 43 0,-165-8 0,1121 20-946,4-50 1088,-958-4-212,-564 1 225,0 2 0,0 0-1,0 0 1,0 1 0,15 6 0,18 5-210,197 36-42,2-11-1,267 9 1,494-30-241,-892-18 332,2423-4 642,-2467 0-636,1-3 0,136-32 0,-33 3 0,-151 33 0,274-55 0,-244 44 0,-2-2 0,0-2 0,84-44 0,45-25 0,36-21 0,-198 97 0,1-1 0,-2-1 0,1-1 0,-2 0 0,26-30 0,-34 36 0,-1 0 0,0 0 0,0-1 0,-1 1 0,0-1 0,0-1 0,-1 1 0,-1-1 0,0 1 0,0-1 0,0 0 0,-1 0 0,1-20 0,-4 25 0,0-1 0,0 1 0,-1 0 0,1-1 0,-1 1 0,0 0 0,-1 0 0,1 1 0,-1-1 0,0 0 0,0 1 0,-1 0 0,1 0 0,-1 0 0,0 0 0,0 0 0,-6-4 0,-12-8 0,1 2 0,-33-17 0,30 18 0,-419-191 0,433 200 0,-827-259 0,746 239 0,-877-199 0,721 183 0,-496-14 0,-811 61 0,-2925-7 0,3542-27 0,-7 0 0,-87 59 0,447 62 0,510-80 0,-12 3 0,0-4 0,-149 3 0,-1255-46 0,1295 17 80,-54-1-1525,228 15-5381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0:47.33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01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28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24575,'158'-12'0,"-77"4"0,423-18-2535,-287 17 1959,266-7-73,-275 16 4287,-118-7-3508,-16 1-138,154 5 8,-116 2 0,-99-1 0,0 2 0,0 0 0,16 4 0,4 1 0,106 11 0,-1 0 0,34 1 0,-136-15 0,58 13 0,4 2 0,115-4 0,324-15 0,-228-1 0,-283 3 0,1 0 0,29 8 0,20 2 0,42-7 0,4 1 0,48-1 0,12 1 0,440 17 0,-329-23 0,-279-1 0,1-1 0,-1 0 0,0-1 0,27-9 0,19-4 0,-38 13 0,0 1 0,31 1 0,-29 1 0,48-6 0,202-29 0,-225 33 0,4 0 0,-45 1 0,-1-1 0,1 0 0,10-5 0,-10 4 0,-1 0 0,17-3 0,-4 5 0,0 0 0,1 1 0,-1 1 0,29 5 0,38 2 0,-15-2 0,-3 1 0,32-7-1365,-85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32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0 24575,'-2'47'0,"-2"0"0,-2-1 0,-16 59 0,20-97 0,-1 0 0,0 0 0,-1 0 0,0 0 0,-5 7 0,-9 18 0,11-20 0,2 0 0,0 0 0,0 0 0,1 1 0,1 0 0,0 0 0,-1 14 0,3 152 0,3-81 0,-3 62-8,2 180-530,8-217-5349,18 61 5827,-13-89 315,-4-42 4777,7 25-3428,7 44-2002,-16-71 398,21 109 0,-18-113 0,-2 0 0,3 63 0,14 71 0,-13-108 0,10 38 0,-11-58 0,-6-17 0,-2 1 0,-2 0 0,-2 42 0,1 20 0,3-30 0,3 127 0,-7 85 0,-1-267 0,0-1 0,-1 1 0,0-1 0,-6 19 0,-22 54 0,17-54 0,-11 44 0,5-7 0,12-50 0,1 0 0,1 0 0,1 1 0,-2 28 0,6 53 0,1-44 0,-1-54-195,0 0 0,0 1 0,-1-1 0,1 0 0,-1 0 0,-2 7 0,-3 2-6631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05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 24575,'-1'10'0,"0"-1"0,-1 0 0,-1 1 0,1-1 0,-6 11 0,-8 22 0,-2-2 0,-39 65 0,52-97 0,-44 63 0,29-39 0,15-24 0,0 0 0,-11 12 0,-14 15-1365,19-24-5461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06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24575,'7'1'0,"-1"0"0,1 0 0,-1 0 0,0 1 0,0 0 0,0 0 0,0 1 0,6 3 0,14 6 0,64 26 0,-74-30 0,-1 0 0,0 2 0,23 18 0,-25-17 0,0 1 0,-1 0 0,-1 1 0,0 0 0,12 19 0,-12-12-1130,2-1-1,1-1 0,0 0 1,1-1-1,32 28 0,-43-42 1330,0 0-1,0 0 0,0-1 0,1 0 1,-1 0-1,1 0 0,7 2 0,1-2 1342,19 2-1,-20-3-832,0 1-1,19 5 0,-29-7-778,0 1 1,0 0-1,0 0 0,0 0 0,0 0 0,0 0 0,0 1 0,-1-1 1,1 1-1,0-1 0,-1 1 0,1-1 0,-1 1 0,0 0 0,1 0 1,-1 0-1,0-1 0,1 5 0,2 6-6754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38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24575,'14'7'0,"-5"-3"0,26 17 0,0-2 0,1-1 0,1-2 0,0-1 0,42 9 0,-58-18 0,10 0 0,-1 2 0,45 19 0,-67-23-273,0 1 0,0 0 0,-1 0 0,12 11 0,-8-7-6553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39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24575,'13'1'0,"0"1"0,-1 0 0,1 0 0,0 2 0,-1-1 0,0 2 0,12 5 0,11 4 0,172 65 0,-185-70 0,-1 0 0,0 2 0,-1 0 0,0 1 0,22 18 0,-29-21-1365,-3-2-5461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3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24575,'3'0'0,"12"5"0,19 6 0,14 6 0,10 3 0,2-3 0,-3 2 0,-2-4 0,-7 2 0,-5-3 0,-6-4 0,-5-3 0,-9-1 0,-4-1 0,-2 1 0,-1-1 0,-1 4 0,-2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40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24575,'169'126'0,"106"41"0,-247-151 0,-1 2 0,30 26 0,2 2 0,-28-27-1365,-17-12-5461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41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24575,'2'0'0,"6"3"0,9 0 0,4 5 0,5 1 0,1 1 0,0 0 0,-1 2 0,-1-1 0,-2 0 0,-1-1 0,-3 2 0,-3-1 0,-4-3-8191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42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24575,'3'3'0,"0"0"0,0-1 0,0 0 0,7 4 0,3 3 0,31 25 0,24 18 0,78 54 0,-29-4-1365,-103-87-5461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43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24575,'5'0'0,"4"0"0,5 0 0,7 0 0,3 5 0,5 4 0,1 1 0,-1 2 0,1 1 0,-1-1 0,-2-2 0,-2 1 0,-2 2 0,-1-1 0,0 0 0,-2-2 0,-3 2 0,-6-1-8191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43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24575,'5'1'0,"1"0"0,-1 0 0,1 0 0,-1 1 0,0 0 0,0 0 0,0 1 0,0-1 0,6 5 0,7 3 0,0-1 0,0 0 0,-1 1 0,0 1 0,-1 1 0,24 21 0,66 64 0,-55-51-1365,-35-31-5461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20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24575,'18'0'0,"46"2"0,-57-1 0,1 1 0,0-1 0,-1 1 0,1 0 0,-1 1 0,9 4 0,6 5 0,0 1 0,-1 1 0,-1 1 0,0 1 0,-1 1 0,30 34 0,-29-31-341,1 0 0,1-2-1,34 23 1,-38-28-6485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20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402 2 24575,'-29'-1'0,"6"1"0,-27 2 0,43-1 0,0 0 0,0 0 0,0 1 0,0 0 0,0 0 0,0 1 0,-12 6 0,-11 11 0,1 1 0,1 1 0,1 2 0,1 0 0,-35 44 0,43-44-1365,5-4-5461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44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24575,'1'0'0,"0"1"0,0-1 0,0 1 0,0 0 0,0-1 0,0 1 0,0 0 0,0 0 0,-1 0 0,1-1 0,0 1 0,-1 0 0,2 2 0,-1-1 0,7 9 0,0 0 0,0 0 0,0-1 0,14 12 0,32 27 0,45 38 0,-73-67 26,26 23-6332,-38-30 4395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0:47.33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11:01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71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Поиск структуры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Те </a:t>
            </a:r>
            <a:r>
              <a:rPr lang="en-US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x </a:t>
            </a: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не соответсвует какому-то </a:t>
            </a:r>
            <a:r>
              <a:rPr lang="en-US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Y</a:t>
            </a:r>
          </a:p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56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77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553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849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97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r>
              <a:rPr lang="ru-RU" dirty="0"/>
              <a:t>нелинейный метод уменьшения размерности, особенно популярный для визуализации данных высокой размерности</a:t>
            </a:r>
          </a:p>
          <a:p>
            <a:pPr marL="158750" indent="0"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Часто используется для визуализации</a:t>
            </a:r>
          </a:p>
          <a:p>
            <a:pPr marL="158750" indent="0" algn="l">
              <a:buNone/>
            </a:pPr>
            <a:r>
              <a:rPr lang="ru-RU" dirty="0"/>
              <a:t>Основная идея: отображать точки так, чтобы похожие объекты в исходном пространстве были близко внизу размерности, а непохожие — дальше друг от друга</a:t>
            </a:r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r>
              <a:rPr lang="ru-RU" dirty="0"/>
              <a:t>В пространстве высокой размерности вычисляется «близость» между каждой парой точек: для точки i и точки j вычисляет вероятность p_ij​, отражающая насколько они «соседи».</a:t>
            </a:r>
          </a:p>
          <a:p>
            <a:endParaRPr lang="ru-RU" b="1" dirty="0"/>
          </a:p>
          <a:p>
            <a:r>
              <a:rPr lang="ru-RU" b="1" dirty="0"/>
              <a:t>Преимущества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Хорошо отображает </a:t>
            </a:r>
            <a:r>
              <a:rPr lang="ru-RU" b="1" dirty="0"/>
              <a:t>локальную структуру</a:t>
            </a:r>
            <a:r>
              <a:rPr lang="ru-RU" dirty="0"/>
              <a:t> данных: точки, которые в исходном пространстве близки — будут близки и в 2D/3D.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Может раскрывать нелинейные зависимости, которые линейные методы (например, Principal Component Analysis (PCA)) не захватывают.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Часто используется как инструмент для исследования, кластеризации, визуализации распределения данных, выявления групп.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b="1" dirty="0"/>
              <a:t>Недостатки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Результат </a:t>
            </a:r>
            <a:r>
              <a:rPr lang="ru-RU" b="1" dirty="0"/>
              <a:t>неоднороден</a:t>
            </a:r>
            <a:r>
              <a:rPr lang="ru-RU" dirty="0"/>
              <a:t>: разные запуски с разной инициализацией или параметрами могут дать разные визуализации.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Плохо масштабируется: когда число точек становится очень большим (например, сотни тысяч), вычисления становятся дорогими.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t-SNE фокусируется на локальной структуре, но </a:t>
            </a:r>
            <a:r>
              <a:rPr lang="ru-RU" b="1" dirty="0"/>
              <a:t>не гарантирует</a:t>
            </a:r>
            <a:r>
              <a:rPr lang="ru-RU" dirty="0"/>
              <a:t> сохранения глобальной структуры (например, относительных расстояний между кластерами)</a:t>
            </a:r>
          </a:p>
          <a:p>
            <a:pPr marL="158750" indent="0" algn="l">
              <a:buNone/>
            </a:pPr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553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991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557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881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Заранее назначаем кол-во кластеров</a:t>
            </a:r>
          </a:p>
        </p:txBody>
      </p:sp>
    </p:spTree>
    <p:extLst>
      <p:ext uri="{BB962C8B-B14F-4D97-AF65-F5344CB8AC3E}">
        <p14:creationId xmlns:p14="http://schemas.microsoft.com/office/powerpoint/2010/main" val="1125745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Заранее назначаем кол-во кластеров</a:t>
            </a:r>
          </a:p>
        </p:txBody>
      </p:sp>
    </p:spTree>
    <p:extLst>
      <p:ext uri="{BB962C8B-B14F-4D97-AF65-F5344CB8AC3E}">
        <p14:creationId xmlns:p14="http://schemas.microsoft.com/office/powerpoint/2010/main" val="3522528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Заранее не назначаем сколько кластеров</a:t>
            </a:r>
          </a:p>
        </p:txBody>
      </p:sp>
    </p:spTree>
    <p:extLst>
      <p:ext uri="{BB962C8B-B14F-4D97-AF65-F5344CB8AC3E}">
        <p14:creationId xmlns:p14="http://schemas.microsoft.com/office/powerpoint/2010/main" val="2949092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Дендограмма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что</a:t>
            </a:r>
          </a:p>
        </p:txBody>
      </p:sp>
    </p:spTree>
    <p:extLst>
      <p:ext uri="{BB962C8B-B14F-4D97-AF65-F5344CB8AC3E}">
        <p14:creationId xmlns:p14="http://schemas.microsoft.com/office/powerpoint/2010/main" val="3273214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Density-based spatial clustering of applications with noise,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плотностной алгоритм пространственной кластеризации с присутствием шума</a:t>
            </a:r>
            <a:endParaRPr 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ru-RU" b="1" dirty="0"/>
              <a:t>Алгоритм:</a:t>
            </a:r>
            <a:endParaRPr lang="ru-RU" dirty="0"/>
          </a:p>
          <a:p>
            <a:r>
              <a:rPr lang="ru-RU" b="1" dirty="0"/>
              <a:t>Находим все точки в ε-окрестности</a:t>
            </a:r>
            <a:r>
              <a:rPr lang="ru-RU" dirty="0"/>
              <a:t> этой точки (расстояние обычно по Евклиду).</a:t>
            </a:r>
          </a:p>
          <a:p>
            <a:r>
              <a:rPr lang="ru-RU" b="1" dirty="0"/>
              <a:t>Если найдено ≥ min_samples точек</a:t>
            </a:r>
            <a:r>
              <a:rPr lang="ru-RU" dirty="0"/>
              <a:t>, то: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текущая точка становится </a:t>
            </a:r>
            <a:r>
              <a:rPr lang="ru-RU" b="1" dirty="0"/>
              <a:t>ядром кластера (core point)</a:t>
            </a:r>
            <a:r>
              <a:rPr lang="ru-RU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все найденные точки добавляются в тот же кластер.</a:t>
            </a:r>
          </a:p>
          <a:p>
            <a:r>
              <a:rPr lang="ru-RU" dirty="0"/>
              <a:t>Для каждой из этих соседних точек повторяется процедура: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если она тоже — </a:t>
            </a:r>
            <a:r>
              <a:rPr lang="ru-RU" b="1" dirty="0"/>
              <a:t>ядро (т.е. имеет ≥ min_samples соседей)</a:t>
            </a:r>
            <a:r>
              <a:rPr lang="ru-RU" dirty="0"/>
              <a:t>, то её соседи также добавляются в кластер.</a:t>
            </a:r>
          </a:p>
          <a:p>
            <a:r>
              <a:rPr lang="ru-RU" b="1" dirty="0"/>
              <a:t>Если точка имеет &lt; min_samples соседей</a:t>
            </a:r>
            <a:r>
              <a:rPr lang="ru-RU" dirty="0"/>
              <a:t>, то: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она считается </a:t>
            </a:r>
            <a:r>
              <a:rPr lang="ru-RU" b="1" dirty="0"/>
              <a:t>пограничной (border point)</a:t>
            </a:r>
            <a:r>
              <a:rPr lang="ru-RU" dirty="0"/>
              <a:t>, если находится рядом с ядром;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иначе — </a:t>
            </a:r>
            <a:r>
              <a:rPr lang="ru-RU" b="1" dirty="0"/>
              <a:t>шумом (noise)</a:t>
            </a:r>
            <a:r>
              <a:rPr lang="ru-RU" dirty="0"/>
              <a:t>.</a:t>
            </a:r>
          </a:p>
          <a:p>
            <a:r>
              <a:rPr lang="ru-RU" dirty="0"/>
              <a:t>Алгоритм повторяет процесс для всех непосещённых точек.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6026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Density-based spatial clustering of applications with noise,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плотностной алгоритм пространственной кластеризации с присутствием шума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738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Density-based spatial clustering of applications with noise,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плотностной алгоритм пространственной кластеризации с присутствием шума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576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Density-based spatial clustering of applications with noise,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плотностной алгоритм пространственной кластеризации с присутствием шума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643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Density-based spatial clustering of applications with noise,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плотностной алгоритм пространственной кластеризации с присутствием шума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73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Надо понимать что все методы – метрические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Для кластеризации на графах есть отдельные методы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222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По некоторому эталону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414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Минимизируем первое и максимизируем второе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626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Если сравнивать частоту использования K-means, иерархической кластеризации и DBSCAN, то на первом месте, бесспорно, будет K-means, а второе место будут делить иерархический подход и DBSCAN. Иерархическая кластеризация — более известный и простой в понимании метод, чем DBSCAN, но довольно редко отрабатывающий качественно. Частая проблема иерархической кластеризации — раннее образование одного гигантского кластера и ряда очень небольших, что приводит к сильной несбалансированности количества объектов в итоговых кластерах. В то же время DBSCAN — менее широко известный подход, но, когда его можно применить, качество, как правило, получается выше, чем в K-means или иерархической кластеризации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11070330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Если сравнивать частоту использования K-means, иерархической кластеризации и DBSCAN, то на первом месте, бесспорно, будет K-means, а второе место будут делить иерархический подход и DBSCAN. Иерархическая кластеризация — более известный и простой в понимании метод, чем DBSCAN, но довольно редко отрабатывающий качественно. Частая проблема иерархической кластеризации — раннее образование одного гигантского кластера и ряда очень небольших, что приводит к сильной несбалансированности количества объектов в итоговых кластерах. В то же время DBSCAN — менее широко известный подход, но, когда его можно применить, качество, как правило, получается выше, чем в K-means или иерархической кластеризации</a:t>
            </a:r>
          </a:p>
        </p:txBody>
      </p:sp>
    </p:spTree>
    <p:extLst>
      <p:ext uri="{BB962C8B-B14F-4D97-AF65-F5344CB8AC3E}">
        <p14:creationId xmlns:p14="http://schemas.microsoft.com/office/powerpoint/2010/main" val="29706384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Применяются в рекомендательных системах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128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Применяются в рекомендательных системах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239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Применяются в рекомендательных системах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47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Применяются в рекомендательных системах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329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Применяются в рекомендательных системах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772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Применяются в рекомендательных системах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33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jefworks.github.io/tsne-online/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customXml" Target="../ink/ink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21" Type="http://schemas.openxmlformats.org/officeDocument/2006/relationships/image" Target="../media/image22.png"/><Relationship Id="rId34" Type="http://schemas.openxmlformats.org/officeDocument/2006/relationships/customXml" Target="../ink/ink19.xml"/><Relationship Id="rId7" Type="http://schemas.openxmlformats.org/officeDocument/2006/relationships/image" Target="../media/image150.png"/><Relationship Id="rId12" Type="http://schemas.openxmlformats.org/officeDocument/2006/relationships/customXml" Target="../ink/ink8.xml"/><Relationship Id="rId17" Type="http://schemas.openxmlformats.org/officeDocument/2006/relationships/image" Target="../media/image20.png"/><Relationship Id="rId25" Type="http://schemas.openxmlformats.org/officeDocument/2006/relationships/image" Target="../media/image24.png"/><Relationship Id="rId3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5.xml"/><Relationship Id="rId11" Type="http://schemas.openxmlformats.org/officeDocument/2006/relationships/image" Target="../media/image170.png"/><Relationship Id="rId24" Type="http://schemas.openxmlformats.org/officeDocument/2006/relationships/customXml" Target="../ink/ink14.xml"/><Relationship Id="rId32" Type="http://schemas.openxmlformats.org/officeDocument/2006/relationships/customXml" Target="../ink/ink18.xml"/><Relationship Id="rId37" Type="http://schemas.openxmlformats.org/officeDocument/2006/relationships/image" Target="../media/image30.png"/><Relationship Id="rId5" Type="http://schemas.openxmlformats.org/officeDocument/2006/relationships/image" Target="../media/image140.png"/><Relationship Id="rId15" Type="http://schemas.openxmlformats.org/officeDocument/2006/relationships/image" Target="../media/image19.png"/><Relationship Id="rId23" Type="http://schemas.openxmlformats.org/officeDocument/2006/relationships/image" Target="../media/image23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10" Type="http://schemas.openxmlformats.org/officeDocument/2006/relationships/customXml" Target="../ink/ink7.xml"/><Relationship Id="rId19" Type="http://schemas.openxmlformats.org/officeDocument/2006/relationships/image" Target="../media/image21.png"/><Relationship Id="rId31" Type="http://schemas.openxmlformats.org/officeDocument/2006/relationships/image" Target="../media/image27.png"/><Relationship Id="rId4" Type="http://schemas.openxmlformats.org/officeDocument/2006/relationships/customXml" Target="../ink/ink4.xml"/><Relationship Id="rId9" Type="http://schemas.openxmlformats.org/officeDocument/2006/relationships/image" Target="../media/image16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25.png"/><Relationship Id="rId30" Type="http://schemas.openxmlformats.org/officeDocument/2006/relationships/customXml" Target="../ink/ink17.xml"/><Relationship Id="rId35" Type="http://schemas.openxmlformats.org/officeDocument/2006/relationships/image" Target="../media/image29.png"/><Relationship Id="rId8" Type="http://schemas.openxmlformats.org/officeDocument/2006/relationships/customXml" Target="../ink/ink6.xml"/><Relationship Id="rId3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21.xml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0.png"/><Relationship Id="rId5" Type="http://schemas.openxmlformats.org/officeDocument/2006/relationships/customXml" Target="../ink/ink22.xml"/><Relationship Id="rId4" Type="http://schemas.openxmlformats.org/officeDocument/2006/relationships/image" Target="../media/image140.png"/><Relationship Id="rId9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ctrTitle"/>
          </p:nvPr>
        </p:nvSpPr>
        <p:spPr>
          <a:xfrm>
            <a:off x="457199" y="1577992"/>
            <a:ext cx="6506029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Обучение без учителя</a:t>
            </a:r>
            <a:endParaRPr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subTitle" idx="1"/>
          </p:nvPr>
        </p:nvSpPr>
        <p:spPr>
          <a:xfrm>
            <a:off x="510177" y="3577324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Семен Косяченко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19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Задачи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FDE0F1D9-E3CD-B7CA-7B54-BE278C11DCFE}"/>
              </a:ext>
            </a:extLst>
          </p:cNvPr>
          <p:cNvSpPr txBox="1"/>
          <p:nvPr/>
        </p:nvSpPr>
        <p:spPr>
          <a:xfrm>
            <a:off x="320041" y="1469415"/>
            <a:ext cx="8695401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без учителя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способ машинного обучения, восстанавливающий внутренние взаимосвязи в исходных неразмеченных данных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1CD38DEC-4472-A66A-C2C2-96D6AE36929B}"/>
              </a:ext>
            </a:extLst>
          </p:cNvPr>
          <p:cNvSpPr txBox="1"/>
          <p:nvPr/>
        </p:nvSpPr>
        <p:spPr>
          <a:xfrm>
            <a:off x="4476258" y="2537178"/>
            <a:ext cx="444344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Типы входных данных: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признаковое описание объектов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расстояний между объектами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87626202-17CF-484E-8005-C9BC42D92F2E}"/>
              </a:ext>
            </a:extLst>
          </p:cNvPr>
          <p:cNvSpPr txBox="1"/>
          <p:nvPr/>
        </p:nvSpPr>
        <p:spPr>
          <a:xfrm>
            <a:off x="320041" y="2536708"/>
            <a:ext cx="4030980" cy="175432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Типы задач: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понижение размерности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правил ассоциации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заполнение пропущенных значений</a:t>
            </a:r>
          </a:p>
        </p:txBody>
      </p:sp>
    </p:spTree>
    <p:extLst>
      <p:ext uri="{BB962C8B-B14F-4D97-AF65-F5344CB8AC3E}">
        <p14:creationId xmlns:p14="http://schemas.microsoft.com/office/powerpoint/2010/main" val="317654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Снижение размерности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3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9933108-A1A8-EA96-1714-B5ECE1E0725A}"/>
              </a:ext>
            </a:extLst>
          </p:cNvPr>
          <p:cNvSpPr txBox="1"/>
          <p:nvPr/>
        </p:nvSpPr>
        <p:spPr>
          <a:xfrm>
            <a:off x="463867" y="1223850"/>
            <a:ext cx="8527733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Понижение размерности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отображение из видимого пространства </a:t>
            </a:r>
            <a:r>
              <a:rPr lang="ru-RU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высокой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размерности в пространство </a:t>
            </a:r>
            <a:r>
              <a:rPr lang="ru-RU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меньшей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размерности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2">
            <a:extLst>
              <a:ext uri="{FF2B5EF4-FFF2-40B4-BE49-F238E27FC236}">
                <a16:creationId xmlns:a16="http://schemas.microsoft.com/office/drawing/2014/main" id="{453CBF46-AC23-A305-F8AA-77D762D6F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043" y="2047799"/>
            <a:ext cx="3850957" cy="299103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15D095A-A015-F456-D1B5-30F2482F54DA}"/>
              </a:ext>
            </a:extLst>
          </p:cNvPr>
          <p:cNvSpPr txBox="1"/>
          <p:nvPr/>
        </p:nvSpPr>
        <p:spPr>
          <a:xfrm>
            <a:off x="463867" y="2433897"/>
            <a:ext cx="4207193" cy="203132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главных компонент (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t-SNE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UMAP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Также можно использовать архитектуру «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автокодировщик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2" descr="Автоэнкодер: типы архитектур и применение">
            <a:extLst>
              <a:ext uri="{FF2B5EF4-FFF2-40B4-BE49-F238E27FC236}">
                <a16:creationId xmlns:a16="http://schemas.microsoft.com/office/drawing/2014/main" id="{5BB86310-C6A1-2402-E92A-54CDAB0CBB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75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800" b="1" dirty="0">
                <a:latin typeface="Source Sans Pro" panose="020B0503030403020204" pitchFamily="34" charset="0"/>
              </a:rPr>
              <a:t>PCA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6146" name="Picture 2" descr="PCA clearly explained - How, when, why to use it and feature importance: A  guide in Python | Towards Data Science">
            <a:extLst>
              <a:ext uri="{FF2B5EF4-FFF2-40B4-BE49-F238E27FC236}">
                <a16:creationId xmlns:a16="http://schemas.microsoft.com/office/drawing/2014/main" id="{4FCD0AC2-A9FE-89C2-7D59-1D6210306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519" y="1182880"/>
            <a:ext cx="5987415" cy="401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19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800" b="1" dirty="0">
                <a:latin typeface="Source Sans Pro" panose="020B0503030403020204" pitchFamily="34" charset="0"/>
              </a:rPr>
              <a:t>PCA</a:t>
            </a:r>
            <a:endParaRPr lang="ru-RU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B6FA59-9534-E8B9-C28E-7267B3E92C1D}"/>
                  </a:ext>
                </a:extLst>
              </p14:cNvPr>
              <p14:cNvContentPartPr/>
              <p14:nvPr/>
            </p14:nvContentPartPr>
            <p14:xfrm>
              <a:off x="5015023" y="283710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B6FA59-9534-E8B9-C28E-7267B3E92C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6023" y="28281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 descr="Метод локтя">
            <a:extLst>
              <a:ext uri="{FF2B5EF4-FFF2-40B4-BE49-F238E27FC236}">
                <a16:creationId xmlns:a16="http://schemas.microsoft.com/office/drawing/2014/main" id="{33DCA22F-9BC6-D3C6-C11C-AB3CD97321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7" b="2982"/>
          <a:stretch/>
        </p:blipFill>
        <p:spPr bwMode="auto">
          <a:xfrm>
            <a:off x="1187779" y="1333333"/>
            <a:ext cx="6212262" cy="368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90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Автокодировщик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6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0ADE1-CA22-A178-1BDD-E3DABFAE8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1241496"/>
            <a:ext cx="6639264" cy="37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4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800" b="1" dirty="0">
                <a:latin typeface="Source Sans Pro" panose="020B0503030403020204" pitchFamily="34" charset="0"/>
              </a:rPr>
              <a:t>t-SNE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7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1FDDE-5EB8-2630-F846-FF5B04A7E80A}"/>
              </a:ext>
            </a:extLst>
          </p:cNvPr>
          <p:cNvSpPr txBox="1"/>
          <p:nvPr/>
        </p:nvSpPr>
        <p:spPr>
          <a:xfrm>
            <a:off x="333375" y="1408212"/>
            <a:ext cx="5518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t‑distributed Stochastic Neighbor Embedding (t-SNE)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EB533E-BEDD-0CA4-AA7A-B39BBBEA85A4}"/>
              </a:ext>
            </a:extLst>
          </p:cNvPr>
          <p:cNvSpPr txBox="1"/>
          <p:nvPr/>
        </p:nvSpPr>
        <p:spPr>
          <a:xfrm>
            <a:off x="333375" y="2110084"/>
            <a:ext cx="5518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P_ij</a:t>
            </a:r>
            <a:r>
              <a:rPr lang="en-US" dirty="0"/>
              <a:t> – </a:t>
            </a:r>
            <a:r>
              <a:rPr lang="ru-RU" dirty="0"/>
              <a:t>похожесть в исходном пространстве 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E33EC6-485E-9A92-D12E-8991B5275734}"/>
              </a:ext>
            </a:extLst>
          </p:cNvPr>
          <p:cNvSpPr txBox="1"/>
          <p:nvPr/>
        </p:nvSpPr>
        <p:spPr>
          <a:xfrm>
            <a:off x="333375" y="2417861"/>
            <a:ext cx="5518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q_ij</a:t>
            </a:r>
            <a:r>
              <a:rPr lang="en-US" dirty="0"/>
              <a:t> – </a:t>
            </a:r>
            <a:r>
              <a:rPr lang="ru-RU" dirty="0"/>
              <a:t>похожесть в новом пространстве пространстве  (инициализируем случайно)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F981A8-D857-912B-284F-F7FAD42E47BA}"/>
              </a:ext>
            </a:extLst>
          </p:cNvPr>
          <p:cNvSpPr txBox="1"/>
          <p:nvPr/>
        </p:nvSpPr>
        <p:spPr>
          <a:xfrm>
            <a:off x="333375" y="2941081"/>
            <a:ext cx="55181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Далее итерационно начинаем двигать </a:t>
            </a:r>
            <a:r>
              <a:rPr lang="en-US" dirty="0" err="1"/>
              <a:t>q_ij</a:t>
            </a:r>
            <a:r>
              <a:rPr lang="en-US" dirty="0"/>
              <a:t> </a:t>
            </a:r>
            <a:r>
              <a:rPr lang="ru-RU" dirty="0"/>
              <a:t>таким образом что бы похожесть всех пар в новом пространстве была бы такой же как и похожесть в исходном пространстве (</a:t>
            </a:r>
            <a:r>
              <a:rPr lang="ru-RU" dirty="0">
                <a:effectLst/>
              </a:rPr>
              <a:t>Кульбака-Лейблера</a:t>
            </a:r>
            <a:r>
              <a:rPr lang="ru-RU" dirty="0"/>
              <a:t>) </a:t>
            </a:r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7AE882B-227B-DAE3-E33C-C1524839D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525" y="3100613"/>
            <a:ext cx="2544300" cy="65379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79757E5-0072-70B4-DF2E-C4E7EFC8C310}"/>
              </a:ext>
            </a:extLst>
          </p:cNvPr>
          <p:cNvSpPr txBox="1"/>
          <p:nvPr/>
        </p:nvSpPr>
        <p:spPr>
          <a:xfrm>
            <a:off x="1362075" y="3967203"/>
            <a:ext cx="5518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https://jefworks.github.io/tsne-online/?utm_source=chatgpt.com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26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8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7843CC-1AB0-1B78-9FB7-B83E1C682032}"/>
              </a:ext>
            </a:extLst>
          </p:cNvPr>
          <p:cNvSpPr txBox="1"/>
          <p:nvPr/>
        </p:nvSpPr>
        <p:spPr>
          <a:xfrm>
            <a:off x="391476" y="1445806"/>
            <a:ext cx="8361045" cy="73866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группировка множества объектов на подмножества (кластеры) таким образом, чтобы объекты из одного кластера были более </a:t>
            </a:r>
            <a:r>
              <a:rPr lang="ru-RU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похожи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друг на друга, чем на объекты из других кластеров по какому-либо критерию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34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9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B59E23-9892-9142-6CAC-A1FDE8C2D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325025"/>
            <a:ext cx="7127558" cy="3744180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60301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10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D9140CA-EA1C-22CE-61A7-89E7F44230B1}"/>
              </a:ext>
            </a:extLst>
          </p:cNvPr>
          <p:cNvSpPr txBox="1"/>
          <p:nvPr/>
        </p:nvSpPr>
        <p:spPr>
          <a:xfrm>
            <a:off x="474345" y="2086035"/>
            <a:ext cx="3655695" cy="175432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кластеризации: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 К-средних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иерархическая кластеризация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7" name="Рисунок 3">
            <a:extLst>
              <a:ext uri="{FF2B5EF4-FFF2-40B4-BE49-F238E27FC236}">
                <a16:creationId xmlns:a16="http://schemas.microsoft.com/office/drawing/2014/main" id="{3593E25D-132D-3FCC-5A98-A3BEE550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37" y="1571387"/>
            <a:ext cx="4336263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0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К-средних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11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DB31EB3-65CF-9DC4-0BEB-9B616B7B0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48" y="1343778"/>
            <a:ext cx="5632132" cy="379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529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300" y="0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</a:p>
          <a:p>
            <a:r>
              <a:rPr lang="ru-RU" sz="2800" b="1" dirty="0">
                <a:latin typeface="Source Sans Pro" panose="020B0503030403020204" pitchFamily="34" charset="0"/>
              </a:rPr>
              <a:t>К-средних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12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4098" name="Picture 2" descr="алгоритм K-средних">
            <a:extLst>
              <a:ext uri="{FF2B5EF4-FFF2-40B4-BE49-F238E27FC236}">
                <a16:creationId xmlns:a16="http://schemas.microsoft.com/office/drawing/2014/main" id="{6D75D69B-DEB6-0A45-27A4-5C411B219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261" y="163511"/>
            <a:ext cx="5733440" cy="478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000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Иерархическая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13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010BD4-C0DF-0C9B-EA95-59B422604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39" y="1228474"/>
            <a:ext cx="7208520" cy="3794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AutoShape 2" descr="Древовидная схема — Википедия">
            <a:extLst>
              <a:ext uri="{FF2B5EF4-FFF2-40B4-BE49-F238E27FC236}">
                <a16:creationId xmlns:a16="http://schemas.microsoft.com/office/drawing/2014/main" id="{F75B2DAE-616A-95B2-9E74-AF853B155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6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Иерархическая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14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3" name="AutoShape 2" descr="Древовидная схема — Википедия">
            <a:extLst>
              <a:ext uri="{FF2B5EF4-FFF2-40B4-BE49-F238E27FC236}">
                <a16:creationId xmlns:a16="http://schemas.microsoft.com/office/drawing/2014/main" id="{F75B2DAE-616A-95B2-9E74-AF853B155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A680841-912D-6841-D7D0-E9FF3B27F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215" y="1447800"/>
            <a:ext cx="3568874" cy="336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54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  <a:r>
              <a:rPr lang="en-US" sz="2800" b="1" dirty="0">
                <a:latin typeface="Source Sans Pro" panose="020B0503030403020204" pitchFamily="34" charset="0"/>
              </a:rPr>
              <a:t>DBSCAN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15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9" name="Рисунок 2">
            <a:extLst>
              <a:ext uri="{FF2B5EF4-FFF2-40B4-BE49-F238E27FC236}">
                <a16:creationId xmlns:a16="http://schemas.microsoft.com/office/drawing/2014/main" id="{002EA5AE-8F34-5253-493F-9869A803E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75"/>
          <a:stretch/>
        </p:blipFill>
        <p:spPr>
          <a:xfrm>
            <a:off x="1234484" y="1226820"/>
            <a:ext cx="7136011" cy="38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11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  <a:r>
              <a:rPr lang="en-US" sz="2800" b="1" dirty="0">
                <a:latin typeface="Source Sans Pro" panose="020B0503030403020204" pitchFamily="34" charset="0"/>
              </a:rPr>
              <a:t>DBSCAN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16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3" name="Рисунок 3">
            <a:extLst>
              <a:ext uri="{FF2B5EF4-FFF2-40B4-BE49-F238E27FC236}">
                <a16:creationId xmlns:a16="http://schemas.microsoft.com/office/drawing/2014/main" id="{A36AEBD9-68A7-7174-1AA8-1293D73D9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224682"/>
            <a:ext cx="5364480" cy="391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3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  <a:r>
              <a:rPr lang="en-US" sz="2800" b="1" dirty="0">
                <a:latin typeface="Source Sans Pro" panose="020B0503030403020204" pitchFamily="34" charset="0"/>
              </a:rPr>
              <a:t>DBSCAN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17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F4512E90-77F9-C362-27CD-AD344D1DF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7968"/>
          <a:stretch/>
        </p:blipFill>
        <p:spPr>
          <a:xfrm>
            <a:off x="2423161" y="1284101"/>
            <a:ext cx="4024228" cy="38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85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194708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  <a:r>
              <a:rPr lang="en-US" sz="2800" b="1" dirty="0">
                <a:latin typeface="Source Sans Pro" panose="020B0503030403020204" pitchFamily="34" charset="0"/>
              </a:rPr>
              <a:t>DBSCAN</a:t>
            </a:r>
            <a:r>
              <a:rPr lang="ru-RU" sz="2800" b="1" dirty="0">
                <a:latin typeface="Source Sans Pro" panose="020B0503030403020204" pitchFamily="34" charset="0"/>
              </a:rPr>
              <a:t> </a:t>
            </a:r>
            <a:r>
              <a:rPr lang="en-US" sz="2800" b="1" dirty="0">
                <a:latin typeface="Source Sans Pro" panose="020B0503030403020204" pitchFamily="34" charset="0"/>
              </a:rPr>
              <a:t>vs K-MEANS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18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5122" name="Picture 2" descr="Сравнение с К-средних">
            <a:extLst>
              <a:ext uri="{FF2B5EF4-FFF2-40B4-BE49-F238E27FC236}">
                <a16:creationId xmlns:a16="http://schemas.microsoft.com/office/drawing/2014/main" id="{11007E9D-00B1-62E8-60EF-7DF75AE33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703" y="1142999"/>
            <a:ext cx="3926853" cy="392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10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194708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  <a:r>
              <a:rPr lang="en-US" sz="2800" b="1" dirty="0">
                <a:latin typeface="Source Sans Pro" panose="020B0503030403020204" pitchFamily="34" charset="0"/>
              </a:rPr>
              <a:t>DBSCAN</a:t>
            </a:r>
            <a:r>
              <a:rPr lang="ru-RU" sz="2800" b="1" dirty="0">
                <a:latin typeface="Source Sans Pro" panose="020B0503030403020204" pitchFamily="34" charset="0"/>
              </a:rPr>
              <a:t> замечания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19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46D74-C1D6-AE7C-E6A4-DE7EFFF91221}"/>
              </a:ext>
            </a:extLst>
          </p:cNvPr>
          <p:cNvSpPr txBox="1"/>
          <p:nvPr/>
        </p:nvSpPr>
        <p:spPr>
          <a:xfrm>
            <a:off x="1296186" y="1448365"/>
            <a:ext cx="55146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Метод DBSCAN основан на анализе плотности распредления точек выборки.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Метод может находить кластеры произвольной формы, в том числе, вложенные.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Метод основан на предположении, что рядом с каждой точной кластера должно быть не менее определенного числа точек этого же кластера.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Единственный метод кластеризации, который явно выделяет шум.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Алгоритм не требует задания количества кластеров.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DBSCAN плохо работает с кластерами очень разной плотности.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8C351F-3D0C-F2CD-D261-3914EFD37E82}"/>
                  </a:ext>
                </a:extLst>
              </p14:cNvPr>
              <p14:cNvContentPartPr/>
              <p14:nvPr/>
            </p14:nvContentPartPr>
            <p14:xfrm>
              <a:off x="1016863" y="4305812"/>
              <a:ext cx="6063120" cy="711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8C351F-3D0C-F2CD-D261-3914EFD37E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223" y="4297172"/>
                <a:ext cx="608076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84A08B5-0BB7-B7EA-3AA2-C9007A373F65}"/>
                  </a:ext>
                </a:extLst>
              </p14:cNvPr>
              <p14:cNvContentPartPr/>
              <p14:nvPr/>
            </p14:nvContentPartPr>
            <p14:xfrm>
              <a:off x="1177783" y="3412292"/>
              <a:ext cx="5752440" cy="624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84A08B5-0BB7-B7EA-3AA2-C9007A373F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8783" y="3403292"/>
                <a:ext cx="5770080" cy="64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9036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Метрика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20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2050" name="Picture 2" descr="Карта центра Барселоны">
            <a:extLst>
              <a:ext uri="{FF2B5EF4-FFF2-40B4-BE49-F238E27FC236}">
                <a16:creationId xmlns:a16="http://schemas.microsoft.com/office/drawing/2014/main" id="{FC0D3AA6-76AD-F78E-57B1-E8DC27B97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739" y="1237950"/>
            <a:ext cx="5511165" cy="390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E9ED27-B767-0B65-E501-8BAC51B21402}"/>
                  </a:ext>
                </a:extLst>
              </p14:cNvPr>
              <p14:cNvContentPartPr/>
              <p14:nvPr/>
            </p14:nvContentPartPr>
            <p14:xfrm>
              <a:off x="680880" y="200116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E9ED27-B767-0B65-E501-8BAC51B214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4760" y="19950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1433639-5782-4196-A0AC-B773F515D668}"/>
                  </a:ext>
                </a:extLst>
              </p14:cNvPr>
              <p14:cNvContentPartPr/>
              <p14:nvPr/>
            </p14:nvContentPartPr>
            <p14:xfrm>
              <a:off x="3296640" y="199612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1433639-5782-4196-A0AC-B773F515D6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0520" y="19900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28DE872-3E09-C6D0-2717-40CD454700C0}"/>
                  </a:ext>
                </a:extLst>
              </p14:cNvPr>
              <p14:cNvContentPartPr/>
              <p14:nvPr/>
            </p14:nvContentPartPr>
            <p14:xfrm>
              <a:off x="3266400" y="2102680"/>
              <a:ext cx="2508120" cy="716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28DE872-3E09-C6D0-2717-40CD454700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57760" y="2094040"/>
                <a:ext cx="25257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4E7064E-4B31-9F6F-9915-A8D24DC1EF16}"/>
                  </a:ext>
                </a:extLst>
              </p14:cNvPr>
              <p14:cNvContentPartPr/>
              <p14:nvPr/>
            </p14:nvContentPartPr>
            <p14:xfrm>
              <a:off x="5750040" y="2148760"/>
              <a:ext cx="97560" cy="1540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4E7064E-4B31-9F6F-9915-A8D24DC1EF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41040" y="2139760"/>
                <a:ext cx="115200" cy="155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DB27D3D-1026-1CBE-03E1-623D9C0930E9}"/>
              </a:ext>
            </a:extLst>
          </p:cNvPr>
          <p:cNvGrpSpPr/>
          <p:nvPr/>
        </p:nvGrpSpPr>
        <p:grpSpPr>
          <a:xfrm>
            <a:off x="3129240" y="2077480"/>
            <a:ext cx="1652040" cy="875880"/>
            <a:chOff x="3129240" y="2077480"/>
            <a:chExt cx="1652040" cy="87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5A87F6-98E8-6B26-303C-B35E36C7FDCF}"/>
                    </a:ext>
                  </a:extLst>
                </p14:cNvPr>
                <p14:cNvContentPartPr/>
                <p14:nvPr/>
              </p14:nvContentPartPr>
              <p14:xfrm>
                <a:off x="3171720" y="2077480"/>
                <a:ext cx="90000" cy="161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5A87F6-98E8-6B26-303C-B35E36C7FD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62720" y="2068840"/>
                  <a:ext cx="107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B1A657-29CB-A34A-C029-402E4767AF79}"/>
                    </a:ext>
                  </a:extLst>
                </p14:cNvPr>
                <p14:cNvContentPartPr/>
                <p14:nvPr/>
              </p14:nvContentPartPr>
              <p14:xfrm>
                <a:off x="3129240" y="2097640"/>
                <a:ext cx="229680" cy="155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B1A657-29CB-A34A-C029-402E4767AF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20240" y="2089000"/>
                  <a:ext cx="247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860D8E-0163-A282-799C-0327FBBA5667}"/>
                    </a:ext>
                  </a:extLst>
                </p14:cNvPr>
                <p14:cNvContentPartPr/>
                <p14:nvPr/>
              </p14:nvContentPartPr>
              <p14:xfrm>
                <a:off x="3245880" y="2199520"/>
                <a:ext cx="180000" cy="7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860D8E-0163-A282-799C-0327FBBA56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36880" y="2190880"/>
                  <a:ext cx="197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6EA1C3-0F91-DE93-058C-333B28FE1117}"/>
                    </a:ext>
                  </a:extLst>
                </p14:cNvPr>
                <p14:cNvContentPartPr/>
                <p14:nvPr/>
              </p14:nvContentPartPr>
              <p14:xfrm>
                <a:off x="3642240" y="2366920"/>
                <a:ext cx="188640" cy="79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6EA1C3-0F91-DE93-058C-333B28FE11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33600" y="2358280"/>
                  <a:ext cx="206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F7972C-8299-244C-BA86-75F95A365209}"/>
                    </a:ext>
                  </a:extLst>
                </p14:cNvPr>
                <p14:cNvContentPartPr/>
                <p14:nvPr/>
              </p14:nvContentPartPr>
              <p14:xfrm>
                <a:off x="3967320" y="2519560"/>
                <a:ext cx="213480" cy="69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F7972C-8299-244C-BA86-75F95A36520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58320" y="2510920"/>
                  <a:ext cx="231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1BF107-E056-05A9-8A14-CFCFC7A27358}"/>
                    </a:ext>
                  </a:extLst>
                </p14:cNvPr>
                <p14:cNvContentPartPr/>
                <p14:nvPr/>
              </p14:nvContentPartPr>
              <p14:xfrm>
                <a:off x="4307520" y="2666440"/>
                <a:ext cx="237960" cy="160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1BF107-E056-05A9-8A14-CFCFC7A2735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98880" y="2657800"/>
                  <a:ext cx="255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E2D88D-E878-4CE9-42B2-FE2E3FEC756B}"/>
                    </a:ext>
                  </a:extLst>
                </p14:cNvPr>
                <p14:cNvContentPartPr/>
                <p14:nvPr/>
              </p14:nvContentPartPr>
              <p14:xfrm>
                <a:off x="4683360" y="2910520"/>
                <a:ext cx="97920" cy="4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E2D88D-E878-4CE9-42B2-FE2E3FEC75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74720" y="2901520"/>
                  <a:ext cx="1155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E3DD3B-DE3E-94CC-FC77-FAA25623C19A}"/>
              </a:ext>
            </a:extLst>
          </p:cNvPr>
          <p:cNvGrpSpPr/>
          <p:nvPr/>
        </p:nvGrpSpPr>
        <p:grpSpPr>
          <a:xfrm>
            <a:off x="4973520" y="3073240"/>
            <a:ext cx="408600" cy="257760"/>
            <a:chOff x="4973520" y="3073240"/>
            <a:chExt cx="40860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2A6DFC-9678-E21D-9A38-218620CF9ED3}"/>
                    </a:ext>
                  </a:extLst>
                </p14:cNvPr>
                <p14:cNvContentPartPr/>
                <p14:nvPr/>
              </p14:nvContentPartPr>
              <p14:xfrm>
                <a:off x="4973520" y="3073240"/>
                <a:ext cx="153000" cy="120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2A6DFC-9678-E21D-9A38-218620CF9ED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64520" y="3064240"/>
                  <a:ext cx="170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E10ABF7-27E6-EBDF-4566-79D0AB709D34}"/>
                    </a:ext>
                  </a:extLst>
                </p14:cNvPr>
                <p14:cNvContentPartPr/>
                <p14:nvPr/>
              </p14:nvContentPartPr>
              <p14:xfrm>
                <a:off x="5242080" y="3276280"/>
                <a:ext cx="140040" cy="54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E10ABF7-27E6-EBDF-4566-79D0AB709D3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33440" y="3267280"/>
                  <a:ext cx="15768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7C53084-DF1D-E4FD-E34B-CF18F3C356AF}"/>
                  </a:ext>
                </a:extLst>
              </p14:cNvPr>
              <p14:cNvContentPartPr/>
              <p14:nvPr/>
            </p14:nvContentPartPr>
            <p14:xfrm>
              <a:off x="5501280" y="3454120"/>
              <a:ext cx="135360" cy="99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7C53084-DF1D-E4FD-E34B-CF18F3C356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92640" y="3445480"/>
                <a:ext cx="153000" cy="11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C2A5B5DF-7164-F728-6B16-2EADFA8743E8}"/>
              </a:ext>
            </a:extLst>
          </p:cNvPr>
          <p:cNvGrpSpPr/>
          <p:nvPr/>
        </p:nvGrpSpPr>
        <p:grpSpPr>
          <a:xfrm>
            <a:off x="5719800" y="3672640"/>
            <a:ext cx="188640" cy="142920"/>
            <a:chOff x="5719800" y="3672640"/>
            <a:chExt cx="18864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EDCE8F6-4CD2-1E4C-FFBE-75138D12844F}"/>
                    </a:ext>
                  </a:extLst>
                </p14:cNvPr>
                <p14:cNvContentPartPr/>
                <p14:nvPr/>
              </p14:nvContentPartPr>
              <p14:xfrm>
                <a:off x="5735280" y="3718360"/>
                <a:ext cx="163440" cy="9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EDCE8F6-4CD2-1E4C-FFBE-75138D1284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26280" y="3709360"/>
                  <a:ext cx="181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6AA2DF0-0BDB-3B95-8368-D7C3DBFF160A}"/>
                    </a:ext>
                  </a:extLst>
                </p14:cNvPr>
                <p14:cNvContentPartPr/>
                <p14:nvPr/>
              </p14:nvContentPartPr>
              <p14:xfrm>
                <a:off x="5763360" y="3702520"/>
                <a:ext cx="145080" cy="88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6AA2DF0-0BDB-3B95-8368-D7C3DBFF16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54360" y="3693880"/>
                  <a:ext cx="162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A3D89D4-9C4C-91F5-4C52-0D53860C1D08}"/>
                    </a:ext>
                  </a:extLst>
                </p14:cNvPr>
                <p14:cNvContentPartPr/>
                <p14:nvPr/>
              </p14:nvContentPartPr>
              <p14:xfrm>
                <a:off x="5719800" y="3672640"/>
                <a:ext cx="113040" cy="105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A3D89D4-9C4C-91F5-4C52-0D53860C1D0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10800" y="3664000"/>
                  <a:ext cx="130680" cy="12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8231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Как оценить качество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21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960D03-9872-EB59-17E5-1609595BE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567101"/>
            <a:ext cx="6848856" cy="25913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2829FF-8E29-81C9-9B6E-B6C7794ABEA3}"/>
              </a:ext>
            </a:extLst>
          </p:cNvPr>
          <p:cNvSpPr txBox="1"/>
          <p:nvPr/>
        </p:nvSpPr>
        <p:spPr>
          <a:xfrm>
            <a:off x="1261871" y="4280952"/>
            <a:ext cx="66202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По некоторому эталону: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323232"/>
                </a:solidFill>
                <a:latin typeface="__YSText_4277c9"/>
              </a:rPr>
              <a:t>Однородность – каждый кластес состоит только из объектов своего класса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323232"/>
                </a:solidFill>
                <a:latin typeface="__YSText_4277c9"/>
              </a:rPr>
              <a:t>Полнота – один класс не разбивается на кластера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7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Как оценить качество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22</a:t>
            </a:fld>
            <a:endParaRPr lang="ru-RU" sz="1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E9ED27-B767-0B65-E501-8BAC51B21402}"/>
                  </a:ext>
                </a:extLst>
              </p14:cNvPr>
              <p14:cNvContentPartPr/>
              <p14:nvPr/>
            </p14:nvContentPartPr>
            <p14:xfrm>
              <a:off x="680880" y="200116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E9ED27-B767-0B65-E501-8BAC51B214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4760" y="19950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1433639-5782-4196-A0AC-B773F515D668}"/>
                  </a:ext>
                </a:extLst>
              </p14:cNvPr>
              <p14:cNvContentPartPr/>
              <p14:nvPr/>
            </p14:nvContentPartPr>
            <p14:xfrm>
              <a:off x="3296640" y="199612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1433639-5782-4196-A0AC-B773F515D6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90520" y="19900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DF6D2CB-FC9F-BC74-546E-00578BB2AB5B}"/>
              </a:ext>
            </a:extLst>
          </p:cNvPr>
          <p:cNvSpPr txBox="1"/>
          <p:nvPr/>
        </p:nvSpPr>
        <p:spPr>
          <a:xfrm>
            <a:off x="410210" y="1598712"/>
            <a:ext cx="5514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__CoFoSans_339ba5"/>
              </a:rPr>
              <a:t>Среднее внутрикластерное расстояние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DA431C-D486-CB1D-6956-C8AD3E6993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" y="2038747"/>
            <a:ext cx="3539787" cy="13309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8774BC-0274-0DCA-1334-214A367518C4}"/>
              </a:ext>
            </a:extLst>
          </p:cNvPr>
          <p:cNvSpPr txBox="1"/>
          <p:nvPr/>
        </p:nvSpPr>
        <p:spPr>
          <a:xfrm>
            <a:off x="4713228" y="1312565"/>
            <a:ext cx="5514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__CoFoSans_339ba5"/>
              </a:rPr>
              <a:t>Среднее межкластерное расстояние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089BE4-232F-0719-A1BA-0B794551AB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8297" y="1599096"/>
            <a:ext cx="3666980" cy="13421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2F0957-A6AF-1C23-68D9-482B39D4336A}"/>
              </a:ext>
            </a:extLst>
          </p:cNvPr>
          <p:cNvSpPr txBox="1"/>
          <p:nvPr/>
        </p:nvSpPr>
        <p:spPr>
          <a:xfrm>
            <a:off x="69742" y="3862757"/>
            <a:ext cx="28542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0" dirty="0">
                <a:solidFill>
                  <a:schemeClr val="bg1"/>
                </a:solidFill>
                <a:effectLst/>
                <a:latin typeface="Nunito" pitchFamily="2" charset="0"/>
              </a:rPr>
              <a:t>Коэффициент силуэта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511DC4-176D-9A44-34D6-19A660D16F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37" y="3454930"/>
            <a:ext cx="2028825" cy="8191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075BF1-7F59-110A-346B-BF4A44F84E8C}"/>
              </a:ext>
            </a:extLst>
          </p:cNvPr>
          <p:cNvSpPr txBox="1"/>
          <p:nvPr/>
        </p:nvSpPr>
        <p:spPr>
          <a:xfrm>
            <a:off x="4758297" y="3168783"/>
            <a:ext cx="5512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 err="1">
                <a:solidFill>
                  <a:srgbClr val="101418"/>
                </a:solidFill>
                <a:effectLst/>
                <a:latin typeface="Linux Libertine"/>
              </a:rPr>
              <a:t>Calinski</a:t>
            </a:r>
            <a:r>
              <a:rPr lang="en-US" b="0" i="0" dirty="0">
                <a:solidFill>
                  <a:srgbClr val="101418"/>
                </a:solidFill>
                <a:effectLst/>
                <a:latin typeface="Linux Libertine"/>
              </a:rPr>
              <a:t>–</a:t>
            </a:r>
            <a:r>
              <a:rPr lang="en-US" b="0" i="0" dirty="0" err="1">
                <a:solidFill>
                  <a:srgbClr val="101418"/>
                </a:solidFill>
                <a:effectLst/>
                <a:latin typeface="Linux Libertine"/>
              </a:rPr>
              <a:t>Harabasz</a:t>
            </a:r>
            <a:r>
              <a:rPr lang="en-US" b="0" i="0" dirty="0">
                <a:solidFill>
                  <a:srgbClr val="101418"/>
                </a:solidFill>
                <a:effectLst/>
                <a:latin typeface="Linux Libertine"/>
              </a:rPr>
              <a:t> index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BB6384-A1F6-0E33-07B4-400AC0BB6B80}"/>
              </a:ext>
            </a:extLst>
          </p:cNvPr>
          <p:cNvSpPr txBox="1"/>
          <p:nvPr/>
        </p:nvSpPr>
        <p:spPr>
          <a:xfrm>
            <a:off x="4838054" y="4221370"/>
            <a:ext cx="5512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BCSS (Between-Cluster Sum of Squares)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WCSS (Within-Cluster Sum of Squares)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23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2050" name="Picture 2" descr="Такие разные кластеры">
            <a:extLst>
              <a:ext uri="{FF2B5EF4-FFF2-40B4-BE49-F238E27FC236}">
                <a16:creationId xmlns:a16="http://schemas.microsoft.com/office/drawing/2014/main" id="{5B3DA898-0E28-15FF-4016-7A0B52285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35" y="937922"/>
            <a:ext cx="6266092" cy="387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C426D2-D953-4CFC-06E3-168C673FDF99}"/>
              </a:ext>
            </a:extLst>
          </p:cNvPr>
          <p:cNvSpPr txBox="1"/>
          <p:nvPr/>
        </p:nvSpPr>
        <p:spPr>
          <a:xfrm>
            <a:off x="224299" y="4816817"/>
            <a:ext cx="551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CoFoSans_339ba5"/>
              </a:rPr>
              <a:t>Каждая модель имеет свои сильные и слабые стороны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60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latin typeface="Source Sans Pro" panose="020B0503030403020204" pitchFamily="34" charset="0"/>
              </a:rPr>
              <a:t>Кластеризация. 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24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3074" name="Picture 2" descr="Смысл кластеров">
            <a:extLst>
              <a:ext uri="{FF2B5EF4-FFF2-40B4-BE49-F238E27FC236}">
                <a16:creationId xmlns:a16="http://schemas.microsoft.com/office/drawing/2014/main" id="{FA76C709-55B1-8B13-9115-9DA7931106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8" t="7698" r="11521" b="8912"/>
          <a:stretch/>
        </p:blipFill>
        <p:spPr bwMode="auto">
          <a:xfrm>
            <a:off x="1781665" y="1298784"/>
            <a:ext cx="5203597" cy="351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823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правил ассоциации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25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6A595-2109-11D9-0F36-EF901084F1FC}"/>
              </a:ext>
            </a:extLst>
          </p:cNvPr>
          <p:cNvSpPr txBox="1"/>
          <p:nvPr/>
        </p:nvSpPr>
        <p:spPr>
          <a:xfrm>
            <a:off x="1433692" y="1448365"/>
            <a:ext cx="551815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Item2Item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{хлеб, масло} → {молоко}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en-US" dirty="0"/>
              <a:t>User2User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Покупатель 1 купил </a:t>
            </a:r>
            <a:r>
              <a:rPr lang="en-US" dirty="0"/>
              <a:t>A,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Покупатель 2 купил </a:t>
            </a:r>
            <a:r>
              <a:rPr lang="en-US" dirty="0"/>
              <a:t>A, B,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Что порекомендовать покупателям похожим на </a:t>
            </a:r>
            <a:r>
              <a:rPr lang="en-US" dirty="0"/>
              <a:t>1</a:t>
            </a:r>
            <a:r>
              <a:rPr lang="ru-RU" dirty="0"/>
              <a:t>, 2 (по полу возрасту, соц статусу)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CE55BF-64D8-D6CE-88E1-0494C32D0762}"/>
              </a:ext>
            </a:extLst>
          </p:cNvPr>
          <p:cNvSpPr txBox="1"/>
          <p:nvPr/>
        </p:nvSpPr>
        <p:spPr>
          <a:xfrm>
            <a:off x="1433692" y="3756689"/>
            <a:ext cx="5518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Apriori</a:t>
            </a:r>
            <a:r>
              <a:rPr lang="en-US" dirty="0"/>
              <a:t>, </a:t>
            </a:r>
            <a:r>
              <a:rPr lang="en-US" dirty="0" err="1"/>
              <a:t>Boltman</a:t>
            </a:r>
            <a:r>
              <a:rPr lang="en-US" dirty="0"/>
              <a:t> Machines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25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800" b="0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Коллаборативная фильтрация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26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0D5DD-CB1F-CF12-2811-F006C3184C9A}"/>
              </a:ext>
            </a:extLst>
          </p:cNvPr>
          <p:cNvSpPr txBox="1"/>
          <p:nvPr/>
        </p:nvSpPr>
        <p:spPr>
          <a:xfrm>
            <a:off x="224299" y="1280790"/>
            <a:ext cx="551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Данные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9841F7-AEC9-A177-E1CD-019EF4049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42"/>
          <a:stretch/>
        </p:blipFill>
        <p:spPr bwMode="auto">
          <a:xfrm>
            <a:off x="276078" y="1601458"/>
            <a:ext cx="4022546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C08CF3-0AF9-9E53-8574-1BC2807A07C2}"/>
              </a:ext>
            </a:extLst>
          </p:cNvPr>
          <p:cNvSpPr txBox="1"/>
          <p:nvPr/>
        </p:nvSpPr>
        <p:spPr>
          <a:xfrm>
            <a:off x="450542" y="3385159"/>
            <a:ext cx="5514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Евклидово расстояние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Косинусная мера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solidFill>
                  <a:srgbClr val="333333"/>
                </a:solidFill>
                <a:latin typeface="-apple-system"/>
              </a:rPr>
              <a:t>...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30BA0-8E81-5C52-6642-38563ABB7E83}"/>
              </a:ext>
            </a:extLst>
          </p:cNvPr>
          <p:cNvSpPr txBox="1"/>
          <p:nvPr/>
        </p:nvSpPr>
        <p:spPr>
          <a:xfrm>
            <a:off x="276077" y="3021768"/>
            <a:ext cx="5514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Мера близости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4EF2AA3-157D-EC8F-033D-698EEA48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89" y="4051980"/>
            <a:ext cx="20764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5DF5CA-ADEA-327A-C5A5-AE191ABEE0F1}"/>
              </a:ext>
            </a:extLst>
          </p:cNvPr>
          <p:cNvSpPr txBox="1"/>
          <p:nvPr/>
        </p:nvSpPr>
        <p:spPr>
          <a:xfrm>
            <a:off x="4567628" y="1308307"/>
            <a:ext cx="5514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Алгоритм</a:t>
            </a:r>
            <a:endParaRPr lang="ru-RU" b="1" dirty="0">
              <a:solidFill>
                <a:srgbClr val="333333"/>
              </a:solidFill>
              <a:latin typeface="-apple-system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9E628CC-5031-D7B3-A3A7-A5903164D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493" y="2052879"/>
            <a:ext cx="2657475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B61AED-9C68-0B67-6BA3-DC8C11A9D9C6}"/>
              </a:ext>
            </a:extLst>
          </p:cNvPr>
          <p:cNvSpPr txBox="1"/>
          <p:nvPr/>
        </p:nvSpPr>
        <p:spPr>
          <a:xfrm>
            <a:off x="4567629" y="1573135"/>
            <a:ext cx="3077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1. Выбираем 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N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самых похожих пользователей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D4A13-8BD1-916E-041E-5367533F2AB0}"/>
              </a:ext>
            </a:extLst>
          </p:cNvPr>
          <p:cNvSpPr txBox="1"/>
          <p:nvPr/>
        </p:nvSpPr>
        <p:spPr>
          <a:xfrm>
            <a:off x="4567629" y="2682120"/>
            <a:ext cx="3077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2. Для каждого из пользователей умножить его оценки на 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близость</a:t>
            </a: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65F638F-D21E-51F2-9334-B27C22200C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72"/>
          <a:stretch/>
        </p:blipFill>
        <p:spPr bwMode="auto">
          <a:xfrm>
            <a:off x="4667493" y="3242440"/>
            <a:ext cx="402596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69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sz="2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Заполнение пропущенных значений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27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12290" name="Picture 2" descr="Метод K ближайших соседей | Машинное и глубокое обучение">
            <a:extLst>
              <a:ext uri="{FF2B5EF4-FFF2-40B4-BE49-F238E27FC236}">
                <a16:creationId xmlns:a16="http://schemas.microsoft.com/office/drawing/2014/main" id="{A9230052-4BE9-D10B-36E8-AC71252B6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594" y="1938598"/>
            <a:ext cx="2410632" cy="215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Классификация, регрессия и другие алгоритмы Data Mining с использованием R">
            <a:extLst>
              <a:ext uri="{FF2B5EF4-FFF2-40B4-BE49-F238E27FC236}">
                <a16:creationId xmlns:a16="http://schemas.microsoft.com/office/drawing/2014/main" id="{40FC9643-B7B7-A022-58B1-47A827ECF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830" y="1730896"/>
            <a:ext cx="2687638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5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28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8194" name="Picture 2" descr="Аномалии">
            <a:extLst>
              <a:ext uri="{FF2B5EF4-FFF2-40B4-BE49-F238E27FC236}">
                <a16:creationId xmlns:a16="http://schemas.microsoft.com/office/drawing/2014/main" id="{1954A10C-7740-ACFE-D3C5-1CC52CE32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22" y="1436571"/>
            <a:ext cx="6111957" cy="33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168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29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C6E33-A96B-5F84-0BBE-4F40009B0026}"/>
              </a:ext>
            </a:extLst>
          </p:cNvPr>
          <p:cNvSpPr txBox="1"/>
          <p:nvPr/>
        </p:nvSpPr>
        <p:spPr>
          <a:xfrm>
            <a:off x="805991" y="1280790"/>
            <a:ext cx="72539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Обнаружение аномалий - это алгоритм идентификации объектов выборки, значимо отличающихся от остальных.</a:t>
            </a:r>
            <a:endParaRPr lang="en-US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Аномалии могут иметь разную природу, но общая черта - редкость.</a:t>
            </a:r>
            <a:endParaRPr lang="en-US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Обнаружение аномалий обучением с учителем сложно из-за дисбаланса классов.</a:t>
            </a:r>
            <a:endParaRPr lang="en-US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Обнаружение аномалий в пространствах высоких размерностей сложно и неочевидно.</a:t>
            </a:r>
            <a:endParaRPr lang="en-US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Аномалии свидетельствуют о подозрительных объектах. Их обнаружение ценно во многих областях.</a:t>
            </a:r>
            <a:endParaRPr lang="en-US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Удаление аномальных объектов может быть этапом подготовки и очистки данных.</a:t>
            </a:r>
            <a:endParaRPr lang="en-US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Среди популярных методов обнаружения аномалий - метод локального уровня выброса</a:t>
            </a:r>
          </a:p>
        </p:txBody>
      </p:sp>
    </p:spTree>
    <p:extLst>
      <p:ext uri="{BB962C8B-B14F-4D97-AF65-F5344CB8AC3E}">
        <p14:creationId xmlns:p14="http://schemas.microsoft.com/office/powerpoint/2010/main" val="243208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Source Sans Pro" panose="020B0503030403020204" pitchFamily="34" charset="0"/>
                <a:cs typeface="Times New Roman" panose="02020603050405020304" pitchFamily="18" charset="0"/>
              </a:rPr>
              <a:t>Замечания по обучению без учителя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30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8205C-D1C8-60B7-F4DD-0997E9807C16}"/>
              </a:ext>
            </a:extLst>
          </p:cNvPr>
          <p:cNvSpPr txBox="1"/>
          <p:nvPr/>
        </p:nvSpPr>
        <p:spPr>
          <a:xfrm>
            <a:off x="575035" y="1191674"/>
            <a:ext cx="85689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Обучение без учителя - это набор задач выявления внутренней структуры в данных, при которых не выделяется целевая переменная.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Модели обучения без учителя помогают ответить на иные вопросы, нежели обучение с учителем.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Классические задачи обучения без учителя: кластеризациия, понижение размерности, обнаружение аномалий, поиск ассоциаций.</a:t>
            </a:r>
            <a:endParaRPr lang="ru-RU" dirty="0"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Сами кластеры не имеют предметного смысла, его надо искать вручную.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При проведении обучения без учителя выборку также можно делить на обучающую и тестовую.</a:t>
            </a:r>
          </a:p>
          <a:p>
            <a:pPr algn="l">
              <a:buFont typeface="+mj-lt"/>
              <a:buAutoNum type="arabicPeriod"/>
            </a:pPr>
            <a:endParaRPr lang="ru-RU" b="0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Модели обучения без учителя могут быть вспомогательными при предобработке данных для обучения с учителем.</a:t>
            </a:r>
          </a:p>
          <a:p>
            <a:pPr algn="l">
              <a:buFont typeface="+mj-lt"/>
              <a:buAutoNum type="arabicPeriod"/>
            </a:pPr>
            <a:endParaRPr lang="ru-RU" dirty="0"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 Решение задачи кластеризации принципиально неоднозначно</a:t>
            </a:r>
          </a:p>
        </p:txBody>
      </p:sp>
    </p:spTree>
    <p:extLst>
      <p:ext uri="{BB962C8B-B14F-4D97-AF65-F5344CB8AC3E}">
        <p14:creationId xmlns:p14="http://schemas.microsoft.com/office/powerpoint/2010/main" val="2738263261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5F5F5F"/>
      </a:lt2>
      <a:accent1>
        <a:srgbClr val="6C63FF"/>
      </a:accent1>
      <a:accent2>
        <a:srgbClr val="8EDBBF"/>
      </a:accent2>
      <a:accent3>
        <a:srgbClr val="F3F3F3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9567</TotalTime>
  <Words>1380</Words>
  <Application>Microsoft Office PowerPoint</Application>
  <PresentationFormat>On-screen Show (16:9)</PresentationFormat>
  <Paragraphs>200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__CoFoSans_339ba5</vt:lpstr>
      <vt:lpstr>__YSText_4277c9</vt:lpstr>
      <vt:lpstr>-apple-system</vt:lpstr>
      <vt:lpstr>Arial</vt:lpstr>
      <vt:lpstr>Fira Sans</vt:lpstr>
      <vt:lpstr>Inter</vt:lpstr>
      <vt:lpstr>Linux Libertine</vt:lpstr>
      <vt:lpstr>Montserrat</vt:lpstr>
      <vt:lpstr>Montserrat Medium</vt:lpstr>
      <vt:lpstr>Nunito</vt:lpstr>
      <vt:lpstr>PT Sans</vt:lpstr>
      <vt:lpstr>Source Sans Pro</vt:lpstr>
      <vt:lpstr>Times New Roman</vt:lpstr>
      <vt:lpstr>Timeline Infographics by Slidesgo</vt:lpstr>
      <vt:lpstr>Slidesgo Final Pages</vt:lpstr>
      <vt:lpstr>Обучение без учителя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semen</dc:creator>
  <cp:lastModifiedBy>Семен Косяченко</cp:lastModifiedBy>
  <cp:revision>13</cp:revision>
  <dcterms:modified xsi:type="dcterms:W3CDTF">2025-11-05T07:05:06Z</dcterms:modified>
</cp:coreProperties>
</file>