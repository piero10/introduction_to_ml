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</p:sldMasterIdLst>
  <p:notesMasterIdLst>
    <p:notesMasterId r:id="rId23"/>
  </p:notesMasterIdLst>
  <p:sldIdLst>
    <p:sldId id="271" r:id="rId3"/>
    <p:sldId id="278" r:id="rId4"/>
    <p:sldId id="295" r:id="rId5"/>
    <p:sldId id="279" r:id="rId6"/>
    <p:sldId id="282" r:id="rId7"/>
    <p:sldId id="283" r:id="rId8"/>
    <p:sldId id="280" r:id="rId9"/>
    <p:sldId id="284" r:id="rId10"/>
    <p:sldId id="285" r:id="rId11"/>
    <p:sldId id="292" r:id="rId12"/>
    <p:sldId id="296" r:id="rId13"/>
    <p:sldId id="286" r:id="rId14"/>
    <p:sldId id="287" r:id="rId15"/>
    <p:sldId id="288" r:id="rId16"/>
    <p:sldId id="289" r:id="rId17"/>
    <p:sldId id="290" r:id="rId18"/>
    <p:sldId id="297" r:id="rId19"/>
    <p:sldId id="291" r:id="rId20"/>
    <p:sldId id="293" r:id="rId21"/>
    <p:sldId id="294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7FA728-1AD8-4869-9260-0FFEE38EFA66}">
  <a:tblStyle styleId="{647FA728-1AD8-4869-9260-0FFEE38EFA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7" autoAdjust="0"/>
    <p:restoredTop sz="75787" autoAdjust="0"/>
  </p:normalViewPr>
  <p:slideViewPr>
    <p:cSldViewPr snapToGrid="0">
      <p:cViewPr varScale="1">
        <p:scale>
          <a:sx n="110" d="100"/>
          <a:sy n="110" d="100"/>
        </p:scale>
        <p:origin x="1680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8T08:50:38.71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77.6853"/>
      <inkml:brushProperty name="anchorY" value="-1489.46497"/>
      <inkml:brushProperty name="scaleFactor" value="0.5"/>
    </inkml:brush>
  </inkml:definitions>
  <inkml:trace contextRef="#ctx0" brushRef="#br0">2219 132 24575,'0'0'0,"0"-4"0,-4-1 0,-5 0 0,-4 2 0,-4 0 0,-2 1 0,-6 1 0,-10 1 0,-10 0 0,-16 4 0,-14 1 0,-10 4 0,-9 4 0,-7 2 0,-4-1 0,2-2 0,7-4 0,13-3 0,12-2 0,12-2 0,7-1 0,3-1 0,2 5 0,1 0 0,2 5 0,-4 7 0,1 0 0,0 7 0,0 1 0,6 0 0,-3 1 0,4 4 0,1-2 0,-1 0 0,4-1 0,-1-1 0,0 2 0,2 0 0,0-1 0,-2 3 0,3-1 0,-2 8 0,3-1 0,-1 3 0,7 1 0,2-3 0,3-3 0,5 1 0,5-3 0,1 1 0,3-1 0,2 2 0,3 2 0,1-2 0,1-2 0,1 1 0,1 2 0,-1 3 0,14 7 0,12 14 0,9 2 0,11 8 0,16 7 0,50 21 0,17 1 0,18-7 0,9-11 0,3-11 0,10-10 0,-6-12 0,-3-5 0,-3-8 0,-2-4 0,-3-4 0,4 2 0,7-1 0,56-1 0,6-1 0,56 3 0,-1 0-1095,-13-5 1408,42-1-470,-20-6 157,22-4 0,-29-1 0,8-2 0,-31-3 0,-15-1 0,-44-3 0,-20 0 0,-36-5 0,-6-1 0,-22 1 0,4-4 0,-4 0 0,28-2 1096,3 1-1409,-1-3 469,18-2-156,-16 2 0,-17-2 0,-3-2 0,-22-2 0,-17-1 0,-18-1 0,-17-1 0,-14-1 0,-6-4 0,-10-1 0,0 1 0,7 1 0,-1 1 0,5 0 0,2 6 0,7-8 0,-2 4 0,-4-4 0,-4-5 0,-9 1 0,-4 1 0,-6 2 0,-6 1 0,-4-6 0,-3-8 0,-1 0 0,-2-2 0,-4 4 0,0 0 0,0 3 0,0 4 0,-2-5 0,1-6 0,-4-3 0,-3 3 0,2 0 0,-3-4 0,-2 4 0,-6 0 0,-23-13 0,-6 1 0,-18-6 0,-21-6 0,-29-6 0,-4 7 0,-29-12 0,-4 5 0,-25-3 0,-18-7 0,5 10 0,-14 3 0,12 11 0,-15 8 0,23 8 0,-19 4 0,23 5 0,-21 5 0,19 2 0,20 8 0,-6 1 0,24 5 0,0 3 0,21 5 0,12-3 0,18 2 0,-9 0 0,14 2 0,11 1 0,-5 1 0,14 1 0,8 0 0,8 0 0,2 0 0,5 0 0,6 5 0,2 0 0,2 0 0,4-2 0,0 4 0,-2-1 0,-1-1 0,-1-1 0,-19-1 0,-2-2 0,-1 0 0,-1-1 0,4 0 0,-1-1 0,0 1 0,-2 0 0,-5 0 0,-1 4 0,-23 1 0,0-1 0,1 0 0,13-1 0,10-2 0,10 4 0,7 0 0,5 4 0,2-1 0,1-1 0,0 2 0,0-1 0,-1-1 0,5-3 0,3-1 0,9 3 0,8-1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8T08:50:46.05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2907.75464"/>
      <inkml:brushProperty name="anchorY" value="1074.30457"/>
      <inkml:brushProperty name="scaleFactor" value="0.5"/>
    </inkml:brush>
  </inkml:definitions>
  <inkml:trace contextRef="#ctx0" brushRef="#br0">2394 0 24575,'0'0'0,"-8"0"0,-10 0 0,-8 0 0,-12 0 0,-13 0 0,-17 0 0,-19 0 0,-21 0 0,-20 9 0,-17 4 0,-23 9 0,-8 2 0,-11 3 0,-4 3 0,1 0 0,7-1 0,21-2 0,14 2 0,32-5 0,29-6 0,30-1 0,24 3 0,18 1 0,11 2 0,7-1 0,2 1 0,1 4 0,-1-1 0,-1 0 0,-2 0 0,0-2 0,-2-1 0,0 0 0,0-1 0,0-1 0,0 1 0,0-1 0,-1 1 0,1 3 0,13 5 0,5 1 0,8 7 0,7-2 0,5-1 0,3-4 0,2 2 0,1-8 0,-4-2 0,-4-2 0,3-5 0,6-1 0,31 10 0,32 5 0,39 10 0,39 8 0,29 4 0,24 0 0,14 3 0,-5-10-684,-13-11 880,-39-12-294,-25-8 98,-22-8 0,-23-4 0,-26-3 0,-12-6 0,-8 0 0,-11-4 684,3 2-879,11 0 292,-1 3-97,16 2 0,-2 2 0,16 1 0,0-3 0,26-5 0,-8 1 0,21-4 0,-15-7 0,-13-2 0,-5-11 0,-20-1 0,-11 0 0,-20 2 0,-16 7 0,-12-2 0,-11-2 0,-9 0 0,-9-3 0,-4 1 0,-1 5 0,-1 3 0,-1 2 0,-1 0 0,-1 0 0,0 0 0,-1 0 0,0-5 0,0-5 0,-5-1 0,-4-2 0,0 0 0,-3-1 0,-12-11 0,-11 1 0,-2-5 0,-8 0 0,-11 1 0,-9-4 0,-18 6 0,-19 1 0,-17 2 0,-14 0 0,-10 5 0,-7 5 0,2 4 0,11 3 0,13 3 0,18 5 0,15 6 0,16 5 0,13 3 0,10-2 0,6 2 0,8 0 0,2 1 0,-4-3 0,3 0 0,3 1 0,4 2 0,3 0 0,2 1 0,2 2 0,2-1 0,-1 1 0,2 1 0,-6-1 0,-3 0 0,-1 0 0,-4 0 0,-6 5 0,-8 0 0,-2-1 0,-4 0 0,-4-1 0,-3-2 0,11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8T08:50:48.23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4272.71191"/>
      <inkml:brushProperty name="anchorY" value="2301.10547"/>
      <inkml:brushProperty name="scaleFactor" value="0.5"/>
    </inkml:brush>
  </inkml:definitions>
  <inkml:trace contextRef="#ctx0" brushRef="#br0">1486 239 24575,'0'0'0,"-3"0"0,-6 0 0,-13 0 0,-17 0 0,-11 0 0,-17 0 0,-6 0 0,-16 0 0,-21 0 0,5 0 0,-11 0 0,8 0 0,1 5 0,10 4 0,4 8 0,18 1 0,12 5 0,13-2 0,8 4 0,7 0 0,7 5 0,3-2 0,7 0 0,6-1 0,1-2 0,4-2 0,2-1 0,2 4 0,-3 0 0,1 0 0,0-1 0,2 3 0,1-1 0,0 0 0,2 3 0,-1-1 0,2-2 0,3 8 0,1-2 0,4-1 0,3-3 0,4-2 0,3 2 0,5-6 0,19 7 0,5 0 0,9-6 0,4-1 0,3-2 0,6 0 0,5-1 0,13 0 0,13 1 0,6-4 0,4 0 0,-3-1 0,-4-2 0,-6 0 0,0 2 0,-3-4 0,1 3 0,7 0 0,11 2 0,11 2 0,19 1 0,12 1 0,18 0 0,6 1 0,50 0 0,-6-4 0,-4-1 0,-2-4 0,-7-4 0,-2 1 0,-4-2 0,-4-2 0,35-2 0,-8-2 0,-12-1 0,-16-1 0,13 0 0,-16 0 0,-20-1 0,-26 1 0,-18 0 0,20-1 0,-12 1 0,-5 0 0,0 0 0,-7 0 0,2 0 0,-4 0 0,24 0 0,-6 0 0,-14-4 0,-17-1 0,-22 1 0,-18-4 0,-14-8 0,-15-3 0,-14-3 0,-9-6 0,-8 0 0,-2 0 0,-4 1 0,1-3 0,-2 2 0,-2-3 0,-1 1 0,-2 1 0,0-2 0,-2-7 0,-9-7 0,0 2 0,-8-6 0,-13-4 0,-6 0 0,-26-7 0,-22-7 0,-19-6 0,-18-7 0,-17-2 0,-11-4 0,-1 4 0,19 16 0,14 9 0,13 8 0,5 10 0,20 11 0,-1 6 0,-7-1 0,4 5 0,-15-4 0,-22 0 0,-1 4 0,-15 0 0,6 4 0,-9 0 0,9 3 0,-7 3 0,14 3 0,-7 2 0,13 2 0,-4 1 0,8 0 0,10 1 0,-9-1 0,9 1 0,-5-1 0,9 0 0,8 0 0,9 0 0,-1 5 0,9 0 0,8-1 0,-5 0 0,7-1 0,-1-2 0,6 0 0,-8 0 0,-1-1 0,4 4 0,-1 0 0,6 0 0,-13 7 0,4 0 0,-1 4 0,2-2 0,4-3 0,2-3 0,5 2 0,-14-2 0,-1 2 0,-6-1 0,1-1 0,-3 2 0,-6-2 0,-2 0 0,-2-3 0,0 3 0,5-2 0,5 0 0,5-1 0,8-2 0,-5 4 0,1 3 0,5 0 0,1-2 0,6 4 0,4-3 0,0-1 0,3-2 0,3-2 0,1-1 0,2 3 0,1-1 0,5 1 0,-3 2 0,3 0 0,0-2 0,4 0 0,4 2 0,7-1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8T08:50:58.53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6376.79932"/>
      <inkml:brushProperty name="anchorY" value="3496.51392"/>
      <inkml:brushProperty name="scaleFactor" value="0.5"/>
    </inkml:brush>
  </inkml:definitions>
  <inkml:trace contextRef="#ctx0" brushRef="#br0">4761 89 24575,'0'0'0,"-4"0"0,-9 0 0,-9-4 0,-4-1 0,-10-4 0,-26-3 0,-12 0 0,-11 3 0,-5 1 0,-11 4 0,-38 1 0,-14-2 0,-1 0 0,1 0 0,-19 2 0,12 1 0,19 1 0,22 0 0,19 1 0,17 0 0,2 0 0,7 0 0,8 0 0,7 1 0,2 3 0,1 1 0,2-1 0,3 4 0,3-1 0,-10 4 0,0-2 0,1-2 0,3 3 0,4-2 0,2 2 0,3-1 0,-3-2 0,-4 3 0,-3-3 0,-4 3 0,-8-1 0,-1 2 0,-5 3 0,0-2 0,-4-3 0,-7 2 0,2-2 0,3 3 0,-1-3 0,4 2 0,3 3 0,7-2 0,7-2 0,6-4 0,5 3 0,-1 2 0,6-2 0,5-1 0,6-2 0,4 2 0,4 3 0,2-1 0,1-2 0,-4 2 0,0 3 0,-4-2 0,4 6 0,-3-2 0,2 2 0,0 2 0,-3 0 0,1 5 0,1-3 0,1 1 0,2-1 0,1 0 0,1-5 0,5 1 0,0-1 0,4 2 0,4 1 0,4 0 0,2 6 0,2 1 0,1 0 0,0-1 0,1-1 0,4-5 0,4-1 0,5 0 0,7 5 0,24 4 0,3 2 0,8 8 0,13-1 0,-5-2 0,6 2 0,-6-3 0,0-3 0,-9-7 0,-10-3 0,-4-6 0,-10 0 0,-2 0 0,-3-2 0,6 5 0,4 2 0,11 6 0,34 10 0,14 5 0,43 8 0,3 1 0,1-2 0,8-3 0,-17-4 0,2-11 0,-22-8 0,-19-9 0,-22-5 0,1-5 0,-9-2 0,-2 2 0,25 1 0,6-1 0,12 5 0,6-1 0,7 3 0,34 4 0,6-1 0,-3 2 0,-5-2 0,-10-3 0,19-2 0,2-3 0,-12-3 0,-5 0 0,-20-1 0,-13 0 0,-21-5 0,-8-5 0,-13-4 0,-14 1 0,-13-2 0,-9 3 0,-7 2 0,-3-1 0,-4-2 0,1 3 0,-1-4 0,0 0 0,-3-3 0,0-2 0,1-1 0,-4-1 0,2 0 0,0 3 0,2-4 0,2 5 0,0-2 0,-2 1 0,-4-5 0,0 3 0,-4-1 0,-2-3 0,2-1 0,-2-4 0,-2-4 0,-2-4 0,4-7 0,3-6 0,-1-7 0,-1 1 0,-2 1 0,2-1 0,-1 7 0,-1 3 0,-2 2 0,-2 2 0,-1 4 0,0 5 0,-1 0 0,0 3 0,0 3 0,-1-7 0,1 1 0,0 2 0,-5-2 0,1 2 0,-9 3 0,-4-3 0,-3 2 0,-2 1 0,-1 3 0,0 1 0,0 5 0,0 1 0,-3 5 0,-1 0 0,1 3 0,1 3 0,1 3 0,1 1 0,-4-2 0,-3-4 0,-5 1 0,1 0 0,7-2 0,-2 2 0,2-3 0,2 2 0,1 2 0,1 2 0,1 2 0,0 1 0,1 1 0,0 1 0,4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5fc6f885e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5fc6f885e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2711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0" dirty="0"/>
              <a:t>Почему так, потому что эти 2 пайплайна очень похожи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209716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1" dirty="0"/>
              <a:t>Сбор данных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Подключение к базам данных (SQL, NoSQL).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Использование API, Excel, CSV, внутренних систем.</a:t>
            </a:r>
          </a:p>
          <a:p>
            <a:r>
              <a:rPr lang="ru-RU" b="1" dirty="0"/>
              <a:t>Очистка и подготовка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Обработка пропусков, ошибок, выбросов.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Преобразование форматов данных.</a:t>
            </a:r>
          </a:p>
          <a:p>
            <a:r>
              <a:rPr lang="ru-RU" b="1" dirty="0"/>
              <a:t>Анализ данных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Исследовательский анализ (EDA).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Статистические проверки гипотез.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Сравнение групп, выявление закономерностей.</a:t>
            </a:r>
          </a:p>
          <a:p>
            <a:r>
              <a:rPr lang="ru-RU" b="1" dirty="0"/>
              <a:t>Визуализация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Построение графиков и дашбордов (Tableau, Power BI, matplotlib, seaborn, Plotly).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Презентация результатов для менеджмента.</a:t>
            </a:r>
          </a:p>
          <a:p>
            <a:r>
              <a:rPr lang="ru-RU" b="1" dirty="0"/>
              <a:t>Отчётность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Подготовка регулярных отчётов.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Автоматизация отчётности (SQL-запросы, скрипты на Python/R).</a:t>
            </a:r>
          </a:p>
          <a:p>
            <a:r>
              <a:rPr lang="ru-RU" b="1" dirty="0"/>
              <a:t>Поддержка решений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Ответы на конкретные бизнес-вопросы («почему продажи падают?», «какие факторы влияют на churn?»).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Рекомендации по оптимизации процессов.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156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2849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? – может и не выполнять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Фокус на бизнес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Почему тут качетсво не важно, часто результаты категориальные, выводы мегапростые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7583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Модель должна быть качественной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1585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Мегаважный шаг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Не линится, качайте все что можете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Все что здесь не доберете, все вам в минус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Ищите доп источники, общайтесь с датахолдерами, все можно собрать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Пример – выдаем не выдаем кредит! Добавьте данные по текущему проценту инфляции и др!!!!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9754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Технический шаг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Датавремя – используем встроенные ф-ии пандас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Категории особенно когда категорий мало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Категории работают быстрее!!!!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Когда не надо категории: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Много уникальных значений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dirty="0"/>
              <a:t>Активное использование метода </a:t>
            </a:r>
            <a:r>
              <a:rPr lang="en-US" dirty="0"/>
              <a:t>.str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6254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Невалидные значения – нефизичные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Пропуск и невалидные – одно и то же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Некоторые алго могут работать с пропусками </a:t>
            </a:r>
            <a:r>
              <a:rPr lang="en-US" dirty="0" err="1"/>
              <a:t>catboost</a:t>
            </a: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Можно построить модель и предсказать значение какой-то фичи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</a:t>
            </a:r>
            <a:r>
              <a:rPr lang="ru-RU" dirty="0"/>
              <a:t>удалить дубли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6761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Есть выбросы а есть </a:t>
            </a:r>
            <a:r>
              <a:rPr lang="en-US" dirty="0"/>
              <a:t>novelty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7851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мультиколлинеарность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такое корреляция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7254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Перемешать значения в колонке посмотреть что измениться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автоэнкодеры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85466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если один выброс далеко?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порисуем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39053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Плюсы и минусы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OH</a:t>
            </a:r>
            <a:r>
              <a:rPr lang="ru-RU" dirty="0"/>
              <a:t> нельзя когда много категорий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Геморой работаь с этим, если не хотите – </a:t>
            </a:r>
            <a:r>
              <a:rPr lang="en-US" dirty="0" err="1"/>
              <a:t>catboost</a:t>
            </a:r>
            <a:r>
              <a:rPr lang="en-US" dirty="0"/>
              <a:t>!!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Все метрические требуют не </a:t>
            </a:r>
            <a:r>
              <a:rPr lang="en-US" dirty="0"/>
              <a:t>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2029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 правило слов много, поэтому надо выбрать наиболее встречаемые, остальное выкинуть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48438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Пример про дом или про момент на роторе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3495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Пример про дом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Пошевелить значение рядом с собой, по нормальному закону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Работайте с доменной частью, подкачать данные о погоде при прогнозировании каких-то процессов, праздники дни недели ид 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15178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Особенно важно в задачах классификации – ближайшие соседи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18023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 основном пользуются </a:t>
            </a:r>
            <a:r>
              <a:rPr lang="en-US" dirty="0"/>
              <a:t>oversampling </a:t>
            </a:r>
            <a:r>
              <a:rPr lang="ru-RU" dirty="0"/>
              <a:t>что бы не терять информацию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Правило 70 </a:t>
            </a:r>
            <a:r>
              <a:rPr lang="en-US" dirty="0"/>
              <a:t>/ 30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9231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статистика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6337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TheKaggler/kaggle-project-best-practices-101-exploratory-data-analysis-cc0b34718280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ctrTitle"/>
          </p:nvPr>
        </p:nvSpPr>
        <p:spPr>
          <a:xfrm>
            <a:off x="902970" y="1279255"/>
            <a:ext cx="5726431" cy="15588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Описательный анализ данных (Exploratory Data Analysis) и основные шаги препроцессинга данных </a:t>
            </a:r>
            <a:endParaRPr sz="2800" dirty="0"/>
          </a:p>
        </p:txBody>
      </p:sp>
      <p:sp>
        <p:nvSpPr>
          <p:cNvPr id="52" name="Google Shape;52;p16"/>
          <p:cNvSpPr txBox="1">
            <a:spLocks noGrp="1"/>
          </p:cNvSpPr>
          <p:nvPr>
            <p:ph type="subTitle" idx="1"/>
          </p:nvPr>
        </p:nvSpPr>
        <p:spPr>
          <a:xfrm>
            <a:off x="582930" y="338355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Семен Косяченко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5198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будем изучать</a:t>
            </a:r>
            <a:endParaRPr dirty="0"/>
          </a:p>
        </p:txBody>
      </p:sp>
      <p:sp>
        <p:nvSpPr>
          <p:cNvPr id="3" name="Google Shape;762;p28">
            <a:extLst>
              <a:ext uri="{FF2B5EF4-FFF2-40B4-BE49-F238E27FC236}">
                <a16:creationId xmlns:a16="http://schemas.microsoft.com/office/drawing/2014/main" id="{E0B90718-6055-086D-49A9-2436A5D403B0}"/>
              </a:ext>
            </a:extLst>
          </p:cNvPr>
          <p:cNvSpPr txBox="1">
            <a:spLocks/>
          </p:cNvSpPr>
          <p:nvPr/>
        </p:nvSpPr>
        <p:spPr>
          <a:xfrm>
            <a:off x="1582540" y="2089350"/>
            <a:ext cx="7717500" cy="14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2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ru-RU" dirty="0"/>
              <a:t>- Препроцессинг данных</a:t>
            </a:r>
          </a:p>
          <a:p>
            <a:r>
              <a:rPr lang="ru-RU" dirty="0"/>
              <a:t>- Как работает аналитик данных</a:t>
            </a:r>
          </a:p>
        </p:txBody>
      </p:sp>
    </p:spTree>
    <p:extLst>
      <p:ext uri="{BB962C8B-B14F-4D97-AF65-F5344CB8AC3E}">
        <p14:creationId xmlns:p14="http://schemas.microsoft.com/office/powerpoint/2010/main" val="2093908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Аналитик данных</a:t>
            </a:r>
            <a:endParaRPr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ADB1013-D2D8-6DF3-41B0-37CAA1D0B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925" y="1190891"/>
            <a:ext cx="7025640" cy="3952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346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0690EB-40D2-FBCA-8659-8308476910B9}"/>
              </a:ext>
            </a:extLst>
          </p:cNvPr>
          <p:cNvSpPr txBox="1"/>
          <p:nvPr/>
        </p:nvSpPr>
        <p:spPr>
          <a:xfrm>
            <a:off x="818064" y="1388626"/>
            <a:ext cx="492374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Цель: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Аналитик данных превращает «сырые» данные в информацию, которая помогает бизнесу принимать решения</a:t>
            </a:r>
          </a:p>
          <a:p>
            <a:endParaRPr lang="ru-RU" b="1" dirty="0"/>
          </a:p>
          <a:p>
            <a:r>
              <a:rPr lang="ru-RU" b="1" dirty="0"/>
              <a:t>Как это сделать: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Получить данные 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Понять их</a:t>
            </a:r>
          </a:p>
          <a:p>
            <a:pPr marL="285750" indent="-285750">
              <a:buFontTx/>
              <a:buChar char="-"/>
            </a:pPr>
            <a:r>
              <a:rPr lang="ru-RU" dirty="0"/>
              <a:t>Проверить</a:t>
            </a:r>
          </a:p>
          <a:p>
            <a:pPr marL="285750" lvl="4" indent="-285750">
              <a:buFontTx/>
              <a:buChar char="-"/>
            </a:pPr>
            <a:r>
              <a:rPr lang="ru-RU" dirty="0"/>
              <a:t>Очистить</a:t>
            </a:r>
          </a:p>
          <a:p>
            <a:pPr marL="285750" lvl="3" indent="-285750">
              <a:buFontTx/>
              <a:buChar char="-"/>
            </a:pPr>
            <a:r>
              <a:rPr lang="ru-RU" dirty="0"/>
              <a:t>Убрать пропуски</a:t>
            </a:r>
          </a:p>
          <a:p>
            <a:pPr marL="285750" lvl="3" indent="-285750">
              <a:buFontTx/>
              <a:buChar char="-"/>
            </a:pPr>
            <a:r>
              <a:rPr lang="ru-RU" dirty="0"/>
              <a:t>Избавиться от выбросов</a:t>
            </a:r>
          </a:p>
          <a:p>
            <a:pPr marL="285750" lvl="3" indent="-285750">
              <a:buFontTx/>
              <a:buChar char="-"/>
            </a:pPr>
            <a:r>
              <a:rPr lang="ru-RU" dirty="0"/>
              <a:t>Визуализовать </a:t>
            </a:r>
          </a:p>
          <a:p>
            <a:pPr marL="285750" lvl="3" indent="-285750">
              <a:buFontTx/>
              <a:buChar char="-"/>
            </a:pPr>
            <a:r>
              <a:rPr lang="ru-RU" dirty="0"/>
              <a:t>Сгенерировать гипотезы и проверить их </a:t>
            </a:r>
          </a:p>
          <a:p>
            <a:pPr marL="285750" lvl="3" indent="-285750">
              <a:buFontTx/>
              <a:buChar char="-"/>
            </a:pPr>
            <a:r>
              <a:rPr lang="ru-RU" dirty="0"/>
              <a:t>Ответить на бизнес запрос (что если), помочь с чем-то разобраться, помочь построить модель</a:t>
            </a:r>
          </a:p>
          <a:p>
            <a:pPr marL="285750" lvl="3" indent="-285750">
              <a:buFontTx/>
              <a:buChar char="-"/>
            </a:pPr>
            <a:endParaRPr lang="ru-RU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2B63986-0E64-8B88-F48C-5790CF206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061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09889" y="-23682"/>
            <a:ext cx="3000255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Аналитик данных</a:t>
            </a:r>
            <a:endParaRPr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2F81A66-9882-B605-5F92-8B749AC4F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304" y="799823"/>
            <a:ext cx="791818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Сбор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данных</a:t>
            </a:r>
            <a:r>
              <a:rPr kumimoji="0" lang="ru-RU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	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Очистка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подготовка</a:t>
            </a:r>
            <a:endParaRPr kumimoji="0" lang="ru-RU" altLang="en-US" sz="11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lvl="8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Преобразование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форматов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данных</a:t>
            </a:r>
            <a:r>
              <a:rPr lang="ru-RU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?</a:t>
            </a:r>
            <a:endParaRPr kumimoji="0" lang="ru-RU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lvl="2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Обработка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пропусков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ошибок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выбросов</a:t>
            </a:r>
            <a:r>
              <a:rPr lang="ru-RU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?</a:t>
            </a:r>
            <a:endParaRPr kumimoji="0" lang="ru-RU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Трансформация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данных</a:t>
            </a:r>
            <a:r>
              <a:rPr kumimoji="0" lang="ru-RU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?</a:t>
            </a: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ru-RU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Снижение размерностей ?</a:t>
            </a: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ru-RU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Скалирование, нормирование ?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ru-RU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Работа с категориальными, текстовыми фичами ?</a:t>
            </a: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endParaRPr lang="ru-RU" altLang="en-US" sz="11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ru-RU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Аугментация</a:t>
            </a:r>
            <a:r>
              <a:rPr kumimoji="0" lang="ru-RU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ru-RU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Фича инженеринг ?</a:t>
            </a: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ru-RU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Работа с доменной частью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Визуализация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Построение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графиков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дашбордов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Презентация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результатов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u-RU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Отчётность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Подготовка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отчёт</a:t>
            </a:r>
            <a:r>
              <a:rPr kumimoji="0" lang="ru-RU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Поддержка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решений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Ответы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конкретные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бизнес-вопросы</a:t>
            </a:r>
            <a:r>
              <a:rPr lang="ru-RU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(«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почему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продажи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падают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?», «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какие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факторы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влияют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churn?»).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2E3167F-A201-4271-1148-6D02B5B31397}"/>
                  </a:ext>
                </a:extLst>
              </p14:cNvPr>
              <p14:cNvContentPartPr/>
              <p14:nvPr/>
            </p14:nvContentPartPr>
            <p14:xfrm>
              <a:off x="324732" y="3253894"/>
              <a:ext cx="2970360" cy="869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2E3167F-A201-4271-1148-6D02B5B313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5732" y="3245254"/>
                <a:ext cx="2988000" cy="88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7263D37B-9762-7515-0F10-AAFDAF16C104}"/>
              </a:ext>
            </a:extLst>
          </p:cNvPr>
          <p:cNvGrpSpPr/>
          <p:nvPr/>
        </p:nvGrpSpPr>
        <p:grpSpPr>
          <a:xfrm>
            <a:off x="292692" y="3928894"/>
            <a:ext cx="3102120" cy="1062360"/>
            <a:chOff x="292692" y="3928894"/>
            <a:chExt cx="3102120" cy="10623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1EDD26A-64B4-4048-0F48-DA46D98F4E75}"/>
                    </a:ext>
                  </a:extLst>
                </p14:cNvPr>
                <p14:cNvContentPartPr/>
                <p14:nvPr/>
              </p14:nvContentPartPr>
              <p14:xfrm>
                <a:off x="292692" y="3928894"/>
                <a:ext cx="1800360" cy="531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1EDD26A-64B4-4048-0F48-DA46D98F4E7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3692" y="3919894"/>
                  <a:ext cx="181800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1BC8272-F169-1432-3C82-804C369F39D4}"/>
                    </a:ext>
                  </a:extLst>
                </p14:cNvPr>
                <p14:cNvContentPartPr/>
                <p14:nvPr/>
              </p14:nvContentPartPr>
              <p14:xfrm>
                <a:off x="565212" y="4408054"/>
                <a:ext cx="2829600" cy="583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1BC8272-F169-1432-3C82-804C369F39D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6212" y="4399414"/>
                  <a:ext cx="2847240" cy="60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01456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72F81A66-9882-B605-5F92-8B749AC4F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1" y="1141562"/>
            <a:ext cx="7249848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Сбор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данных</a:t>
            </a:r>
            <a:r>
              <a:rPr kumimoji="0" lang="ru-RU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	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Очистка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подготовка</a:t>
            </a:r>
            <a:endParaRPr lang="ru-RU" altLang="en-US" sz="11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Обработка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пропусков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ошибок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выбросов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u-RU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Преобразование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форматов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данных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u-RU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Трансформация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данных</a:t>
            </a:r>
            <a:endParaRPr kumimoji="0" lang="ru-RU" altLang="en-US" sz="11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ru-RU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Снижение размерностей</a:t>
            </a: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ru-RU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Скалирование, нормирование</a:t>
            </a: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ru-RU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Работа с категориальными, текстовыми фичами</a:t>
            </a: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endParaRPr lang="ru-RU" altLang="en-US" sz="11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ru-RU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Аугментация</a:t>
            </a:r>
            <a:r>
              <a:rPr kumimoji="0" lang="ru-RU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ru-RU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Фича инженеринг</a:t>
            </a:r>
          </a:p>
          <a:p>
            <a:pPr marL="171450" lvl="1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ru-RU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Работа с доменной частью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Балансировка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Подготовка тренировочной, валидационной, тестовой выборки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Обучение модели </a:t>
            </a:r>
            <a:endParaRPr kumimoji="0" lang="ru-RU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Google Shape;762;p28">
            <a:extLst>
              <a:ext uri="{FF2B5EF4-FFF2-40B4-BE49-F238E27FC236}">
                <a16:creationId xmlns:a16="http://schemas.microsoft.com/office/drawing/2014/main" id="{11C5869C-28AA-7926-BD16-480B7808750F}"/>
              </a:ext>
            </a:extLst>
          </p:cNvPr>
          <p:cNvSpPr txBox="1">
            <a:spLocks/>
          </p:cNvSpPr>
          <p:nvPr/>
        </p:nvSpPr>
        <p:spPr>
          <a:xfrm>
            <a:off x="411481" y="123987"/>
            <a:ext cx="6102973" cy="90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2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ru-RU" dirty="0"/>
              <a:t>Препроцессинг данных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7481F1E-D7A2-D152-70D7-96618D7BBA7D}"/>
                  </a:ext>
                </a:extLst>
              </p14:cNvPr>
              <p14:cNvContentPartPr/>
              <p14:nvPr/>
            </p14:nvContentPartPr>
            <p14:xfrm>
              <a:off x="246612" y="4331014"/>
              <a:ext cx="1900440" cy="645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7481F1E-D7A2-D152-70D7-96618D7BBA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972" y="4322374"/>
                <a:ext cx="1918080" cy="66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5797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5" y="349598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Сбор данных</a:t>
            </a:r>
            <a:endParaRPr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3AB2E08-5EB6-3F25-D7A6-E94F806B1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711" y="1357190"/>
            <a:ext cx="5954578" cy="3378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572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4" y="349597"/>
            <a:ext cx="8694935" cy="9582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Очистка</a:t>
            </a:r>
            <a:r>
              <a:rPr lang="en-US" dirty="0"/>
              <a:t>. </a:t>
            </a:r>
            <a:r>
              <a:rPr lang="ru-RU" b="1" dirty="0">
                <a:solidFill>
                  <a:schemeClr val="bg1"/>
                </a:solidFill>
              </a:rPr>
              <a:t>Преобразование форматов</a:t>
            </a:r>
            <a:br>
              <a:rPr lang="ru-RU" b="1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FE035A-73D2-4C5A-3F75-37A7D5CDBC95}"/>
              </a:ext>
            </a:extLst>
          </p:cNvPr>
          <p:cNvSpPr txBox="1"/>
          <p:nvPr/>
        </p:nvSpPr>
        <p:spPr>
          <a:xfrm>
            <a:off x="224531" y="124516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Дата, время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E4EEDF-8689-90BB-7654-85E688F78B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88" t="4481" r="41227" b="88050"/>
          <a:stretch/>
        </p:blipFill>
        <p:spPr>
          <a:xfrm>
            <a:off x="2083981" y="1256099"/>
            <a:ext cx="4386269" cy="3505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C0DDD7-D0CC-F4D9-C63B-52E091755B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54" t="81132" r="47793"/>
          <a:stretch/>
        </p:blipFill>
        <p:spPr>
          <a:xfrm>
            <a:off x="2083981" y="1627339"/>
            <a:ext cx="3907465" cy="8321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4C2CC43-AEAD-DC31-C218-B08122178C03}"/>
              </a:ext>
            </a:extLst>
          </p:cNvPr>
          <p:cNvSpPr txBox="1"/>
          <p:nvPr/>
        </p:nvSpPr>
        <p:spPr>
          <a:xfrm>
            <a:off x="224531" y="258445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Категориальные признаки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A37934-C843-E1C3-46BC-2AD1E34DE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391" y="2904173"/>
            <a:ext cx="7000875" cy="7334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D276998-BCED-05D9-5EA9-EF6744E93223}"/>
              </a:ext>
            </a:extLst>
          </p:cNvPr>
          <p:cNvSpPr txBox="1"/>
          <p:nvPr/>
        </p:nvSpPr>
        <p:spPr>
          <a:xfrm>
            <a:off x="275922" y="371610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en-US" dirty="0">
                <a:solidFill>
                  <a:schemeClr val="bg1"/>
                </a:solidFill>
                <a:latin typeface="Arial" panose="020B0604020202020204" pitchFamily="34" charset="0"/>
              </a:rPr>
              <a:t>Числовые признаки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93AFE60-D77D-40B5-F2E7-AC83F2CC6B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2884" b="52761"/>
          <a:stretch/>
        </p:blipFill>
        <p:spPr>
          <a:xfrm>
            <a:off x="2190307" y="3810465"/>
            <a:ext cx="5657850" cy="5838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51723FE-E310-12BE-FCED-23556AC2D8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6489" b="5188"/>
          <a:stretch/>
        </p:blipFill>
        <p:spPr>
          <a:xfrm>
            <a:off x="2190307" y="4596576"/>
            <a:ext cx="5657850" cy="33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830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4" y="349598"/>
            <a:ext cx="8694935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Очистка</a:t>
            </a:r>
            <a:r>
              <a:rPr lang="en-US" dirty="0"/>
              <a:t>. </a:t>
            </a:r>
            <a:r>
              <a:rPr lang="ru-RU" b="1" dirty="0">
                <a:solidFill>
                  <a:schemeClr val="bg1"/>
                </a:solidFill>
              </a:rPr>
              <a:t>Пропущенные значения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Невалидные значения</a:t>
            </a:r>
            <a:br>
              <a:rPr lang="ru-RU" b="1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EFD0D-9477-F6EA-896B-E90031C18BD0}"/>
              </a:ext>
            </a:extLst>
          </p:cNvPr>
          <p:cNvSpPr txBox="1"/>
          <p:nvPr/>
        </p:nvSpPr>
        <p:spPr>
          <a:xfrm>
            <a:off x="5445054" y="1942017"/>
            <a:ext cx="36085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</a:rPr>
              <a:t>Что с этим делать?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</a:rPr>
              <a:t>Нулями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</a:rPr>
              <a:t>Средним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</a:rPr>
              <a:t>Медианой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</a:rPr>
              <a:t>Модой (наиболее частое значение)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</a:rPr>
              <a:t>Особым значением (которое нигде больше не встречается)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</a:rPr>
              <a:t>Построить модель по другим признакам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BF533-7AA6-9D16-38BD-3E78431C9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64" y="2350496"/>
            <a:ext cx="4705350" cy="1371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225B24-CD07-4635-45CE-D75AEBAF9655}"/>
              </a:ext>
            </a:extLst>
          </p:cNvPr>
          <p:cNvSpPr/>
          <p:nvPr/>
        </p:nvSpPr>
        <p:spPr>
          <a:xfrm>
            <a:off x="1810603" y="2925170"/>
            <a:ext cx="1141863" cy="3593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6CF1E6-C3FF-85E1-54AC-1D18A2D64FDE}"/>
              </a:ext>
            </a:extLst>
          </p:cNvPr>
          <p:cNvSpPr/>
          <p:nvPr/>
        </p:nvSpPr>
        <p:spPr>
          <a:xfrm>
            <a:off x="2824574" y="3240609"/>
            <a:ext cx="1141863" cy="3593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88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4" y="349598"/>
            <a:ext cx="8694935" cy="8205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Очистка</a:t>
            </a:r>
            <a:r>
              <a:rPr lang="en-US" dirty="0"/>
              <a:t>.</a:t>
            </a:r>
            <a:r>
              <a:rPr lang="ru-RU" dirty="0"/>
              <a:t> Выбросы</a:t>
            </a:r>
            <a:endParaRPr dirty="0"/>
          </a:p>
        </p:txBody>
      </p:sp>
      <p:sp>
        <p:nvSpPr>
          <p:cNvPr id="6" name="AutoShape 2" descr="Обнаружение выбросов в Machine Learning">
            <a:extLst>
              <a:ext uri="{FF2B5EF4-FFF2-40B4-BE49-F238E27FC236}">
                <a16:creationId xmlns:a16="http://schemas.microsoft.com/office/drawing/2014/main" id="{3557042E-83B6-4982-B193-629ADF461D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E59443-1351-1582-969A-68BE34239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390" y="139128"/>
            <a:ext cx="3411939" cy="20620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8C11B0-5B61-62B6-BDC4-88C642E7A950}"/>
              </a:ext>
            </a:extLst>
          </p:cNvPr>
          <p:cNvSpPr txBox="1"/>
          <p:nvPr/>
        </p:nvSpPr>
        <p:spPr>
          <a:xfrm>
            <a:off x="224531" y="131932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Как обнаружить выброс (</a:t>
            </a:r>
            <a:r>
              <a:rPr lang="en-US" b="1" dirty="0"/>
              <a:t>novelty</a:t>
            </a:r>
            <a:r>
              <a:rPr lang="ru-RU" b="1" dirty="0"/>
              <a:t>)</a:t>
            </a:r>
            <a:r>
              <a:rPr lang="en-US" b="1" dirty="0"/>
              <a:t>:</a:t>
            </a:r>
          </a:p>
          <a:p>
            <a:r>
              <a:rPr lang="ru-RU" dirty="0"/>
              <a:t>Статистические методы</a:t>
            </a:r>
            <a:r>
              <a:rPr lang="en-US" dirty="0"/>
              <a:t> (</a:t>
            </a:r>
            <a:r>
              <a:rPr lang="en-US" dirty="0">
                <a:effectLst/>
              </a:rPr>
              <a:t>Z-</a:t>
            </a:r>
            <a:r>
              <a:rPr lang="ru-RU" dirty="0">
                <a:effectLst/>
              </a:rPr>
              <a:t>оценка</a:t>
            </a:r>
            <a:r>
              <a:rPr lang="en-US" dirty="0"/>
              <a:t>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AAE411-E12B-BD86-A4D4-BCEDB41F8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45" y="1842549"/>
            <a:ext cx="4699478" cy="14380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1048579-DCCE-7034-9B97-ECE8035303DB}"/>
              </a:ext>
            </a:extLst>
          </p:cNvPr>
          <p:cNvSpPr txBox="1"/>
          <p:nvPr/>
        </p:nvSpPr>
        <p:spPr>
          <a:xfrm>
            <a:off x="1079551" y="3624351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ML: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Isolation Forest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DBSCAN</a:t>
            </a: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Mahalanobis</a:t>
            </a:r>
            <a:r>
              <a:rPr lang="en-US" dirty="0"/>
              <a:t> Distance</a:t>
            </a:r>
            <a:endParaRPr lang="en-US" dirty="0">
              <a:effectLst/>
            </a:endParaRPr>
          </a:p>
          <a:p>
            <a:endParaRPr lang="en-US" dirty="0"/>
          </a:p>
        </p:txBody>
      </p:sp>
      <p:pic>
        <p:nvPicPr>
          <p:cNvPr id="13318" name="Picture 6" descr="seaborn.boxplot — seaborn 0.13.2 documentation">
            <a:extLst>
              <a:ext uri="{FF2B5EF4-FFF2-40B4-BE49-F238E27FC236}">
                <a16:creationId xmlns:a16="http://schemas.microsoft.com/office/drawing/2014/main" id="{06E939B7-AA58-886E-9232-4108EBFFE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443" y="2411657"/>
            <a:ext cx="3331831" cy="257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135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4" y="349598"/>
            <a:ext cx="8694935" cy="8957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</a:rPr>
              <a:t>Снижение размерности. Ко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</a:rPr>
              <a:t>рреляционный анализ</a:t>
            </a:r>
            <a:br>
              <a:rPr lang="ru-RU" b="1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3D70BF-F3E7-2B5A-A6F0-DF234DEFD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876878"/>
              </p:ext>
            </p:extLst>
          </p:nvPr>
        </p:nvGraphicFramePr>
        <p:xfrm>
          <a:off x="1123405" y="1581150"/>
          <a:ext cx="6096000" cy="2225040"/>
        </p:xfrm>
        <a:graphic>
          <a:graphicData uri="http://schemas.openxmlformats.org/drawingml/2006/table">
            <a:tbl>
              <a:tblPr firstRow="1" bandRow="1">
                <a:tableStyleId>{647FA728-1AD8-4869-9260-0FFEE38EFA66}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85619002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5977128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9569558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82729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907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792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3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037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21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160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942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4" y="349597"/>
            <a:ext cx="8694935" cy="9582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Трансформация</a:t>
            </a:r>
            <a:r>
              <a:rPr lang="en-US" dirty="0"/>
              <a:t>. </a:t>
            </a:r>
            <a:r>
              <a:rPr lang="ru-RU" dirty="0"/>
              <a:t>Снижение размерности</a:t>
            </a:r>
            <a:br>
              <a:rPr lang="ru-RU" b="1" dirty="0">
                <a:solidFill>
                  <a:schemeClr val="bg1"/>
                </a:solidFill>
                <a:latin typeface="Arial" panose="020B0604020202020204" pitchFamily="34" charset="0"/>
              </a:rPr>
            </a:b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7CE11B-940C-40D8-A64C-6F36C45F74D6}"/>
              </a:ext>
            </a:extLst>
          </p:cNvPr>
          <p:cNvSpPr txBox="1"/>
          <p:nvPr/>
        </p:nvSpPr>
        <p:spPr>
          <a:xfrm>
            <a:off x="449064" y="1802500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Что делать если у нас 10_000 колонок?</a:t>
            </a:r>
          </a:p>
          <a:p>
            <a:endParaRPr lang="ru-RU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</a:rPr>
              <a:t>Удалить ненужные (большое количество пропусков, одно уникальное значение)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</a:rPr>
              <a:t>0 корреляция ?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</a:rPr>
              <a:t>мультиколинеарные?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</a:rPr>
              <a:t>Использовать методы отбора признаков </a:t>
            </a:r>
            <a:r>
              <a:rPr lang="en-US" dirty="0"/>
              <a:t>ANOVA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</a:rPr>
              <a:t>Исследовать </a:t>
            </a:r>
            <a:r>
              <a:rPr lang="en-US" dirty="0" err="1"/>
              <a:t>feature_importances</a:t>
            </a:r>
            <a:r>
              <a:rPr lang="en-US" dirty="0"/>
              <a:t>_</a:t>
            </a:r>
            <a:r>
              <a:rPr lang="ru-RU" dirty="0"/>
              <a:t>, </a:t>
            </a:r>
            <a:r>
              <a:rPr lang="en-US" dirty="0"/>
              <a:t>_</a:t>
            </a:r>
            <a:r>
              <a:rPr lang="en-US" dirty="0" err="1"/>
              <a:t>coeff</a:t>
            </a:r>
            <a:endParaRPr lang="en-US" dirty="0"/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dirty="0"/>
              <a:t>Principal Component Analysis</a:t>
            </a:r>
          </a:p>
        </p:txBody>
      </p:sp>
      <p:pic>
        <p:nvPicPr>
          <p:cNvPr id="6146" name="Picture 2" descr="What Is Principal Component Analysis (PCA)? | IBM">
            <a:extLst>
              <a:ext uri="{FF2B5EF4-FFF2-40B4-BE49-F238E27FC236}">
                <a16:creationId xmlns:a16="http://schemas.microsoft.com/office/drawing/2014/main" id="{03DF0462-5967-7BB3-4A51-0117E6DCB4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40" t="14368" r="17574" b="13694"/>
          <a:stretch/>
        </p:blipFill>
        <p:spPr bwMode="auto">
          <a:xfrm>
            <a:off x="5396023" y="1224836"/>
            <a:ext cx="3000010" cy="1870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ANOVA - Lean Manufacturing and Six Sigma Definitions">
            <a:extLst>
              <a:ext uri="{FF2B5EF4-FFF2-40B4-BE49-F238E27FC236}">
                <a16:creationId xmlns:a16="http://schemas.microsoft.com/office/drawing/2014/main" id="{C706218D-FE0C-9106-EEDD-BEDC835B9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552" y="3272302"/>
            <a:ext cx="4848447" cy="1871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840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4" y="349597"/>
            <a:ext cx="8694935" cy="9582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Трансформация</a:t>
            </a:r>
            <a:r>
              <a:rPr lang="en-US" dirty="0"/>
              <a:t>. </a:t>
            </a:r>
            <a:r>
              <a:rPr lang="ru-RU" dirty="0"/>
              <a:t>Стандартизация, нормализация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39FCD-7DB9-19FF-2E37-57DCACD39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35" y="2407778"/>
            <a:ext cx="2266950" cy="647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81804E-2030-CF44-C6FE-E43F091738E0}"/>
              </a:ext>
            </a:extLst>
          </p:cNvPr>
          <p:cNvSpPr txBox="1"/>
          <p:nvPr/>
        </p:nvSpPr>
        <p:spPr>
          <a:xfrm>
            <a:off x="762886" y="2100001"/>
            <a:ext cx="1621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Нормализация</a:t>
            </a:r>
            <a:r>
              <a:rPr lang="ru-RU" dirty="0"/>
              <a:t>: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E7B8E7-40EB-9E26-B303-90DEDC8B3D89}"/>
              </a:ext>
            </a:extLst>
          </p:cNvPr>
          <p:cNvSpPr txBox="1"/>
          <p:nvPr/>
        </p:nvSpPr>
        <p:spPr>
          <a:xfrm>
            <a:off x="636180" y="1295683"/>
            <a:ext cx="53446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100% необходимо для всех метрических методов</a:t>
            </a:r>
            <a:endParaRPr lang="en-US" b="1" dirty="0"/>
          </a:p>
        </p:txBody>
      </p:sp>
      <p:grpSp>
        <p:nvGrpSpPr>
          <p:cNvPr id="8" name="Google Shape;748;p28">
            <a:extLst>
              <a:ext uri="{FF2B5EF4-FFF2-40B4-BE49-F238E27FC236}">
                <a16:creationId xmlns:a16="http://schemas.microsoft.com/office/drawing/2014/main" id="{CC850643-AF49-B69A-6AC1-3C6A8C275023}"/>
              </a:ext>
            </a:extLst>
          </p:cNvPr>
          <p:cNvGrpSpPr/>
          <p:nvPr/>
        </p:nvGrpSpPr>
        <p:grpSpPr>
          <a:xfrm>
            <a:off x="347435" y="1347853"/>
            <a:ext cx="291741" cy="255607"/>
            <a:chOff x="899850" y="871450"/>
            <a:chExt cx="483175" cy="423400"/>
          </a:xfrm>
        </p:grpSpPr>
        <p:sp>
          <p:nvSpPr>
            <p:cNvPr id="9" name="Google Shape;749;p28">
              <a:extLst>
                <a:ext uri="{FF2B5EF4-FFF2-40B4-BE49-F238E27FC236}">
                  <a16:creationId xmlns:a16="http://schemas.microsoft.com/office/drawing/2014/main" id="{5DED2D42-8D56-7E1E-2400-2A7761ADAB34}"/>
                </a:ext>
              </a:extLst>
            </p:cNvPr>
            <p:cNvSpPr/>
            <p:nvPr/>
          </p:nvSpPr>
          <p:spPr>
            <a:xfrm>
              <a:off x="1325175" y="1040825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750;p28">
              <a:extLst>
                <a:ext uri="{FF2B5EF4-FFF2-40B4-BE49-F238E27FC236}">
                  <a16:creationId xmlns:a16="http://schemas.microsoft.com/office/drawing/2014/main" id="{010808FD-E20E-CCF6-469C-29B48727AD0D}"/>
                </a:ext>
              </a:extLst>
            </p:cNvPr>
            <p:cNvSpPr/>
            <p:nvPr/>
          </p:nvSpPr>
          <p:spPr>
            <a:xfrm>
              <a:off x="1323750" y="956100"/>
              <a:ext cx="59275" cy="56525"/>
            </a:xfrm>
            <a:custGeom>
              <a:avLst/>
              <a:gdLst/>
              <a:ahLst/>
              <a:cxnLst/>
              <a:rect l="l" t="t" r="r" b="b"/>
              <a:pathLst>
                <a:path w="2371" h="2261" extrusionOk="0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751;p28">
              <a:extLst>
                <a:ext uri="{FF2B5EF4-FFF2-40B4-BE49-F238E27FC236}">
                  <a16:creationId xmlns:a16="http://schemas.microsoft.com/office/drawing/2014/main" id="{D6D3E0BD-6C5E-79AD-0152-9CE86339CCA6}"/>
                </a:ext>
              </a:extLst>
            </p:cNvPr>
            <p:cNvSpPr/>
            <p:nvPr/>
          </p:nvSpPr>
          <p:spPr>
            <a:xfrm>
              <a:off x="1323750" y="1097250"/>
              <a:ext cx="59275" cy="56525"/>
            </a:xfrm>
            <a:custGeom>
              <a:avLst/>
              <a:gdLst/>
              <a:ahLst/>
              <a:cxnLst/>
              <a:rect l="l" t="t" r="r" b="b"/>
              <a:pathLst>
                <a:path w="2371" h="2261" extrusionOk="0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752;p28">
              <a:extLst>
                <a:ext uri="{FF2B5EF4-FFF2-40B4-BE49-F238E27FC236}">
                  <a16:creationId xmlns:a16="http://schemas.microsoft.com/office/drawing/2014/main" id="{24FB0E59-6116-5854-DD64-0C315E91DC82}"/>
                </a:ext>
              </a:extLst>
            </p:cNvPr>
            <p:cNvSpPr/>
            <p:nvPr/>
          </p:nvSpPr>
          <p:spPr>
            <a:xfrm>
              <a:off x="899850" y="871450"/>
              <a:ext cx="396150" cy="423400"/>
            </a:xfrm>
            <a:custGeom>
              <a:avLst/>
              <a:gdLst/>
              <a:ahLst/>
              <a:cxnLst/>
              <a:rect l="l" t="t" r="r" b="b"/>
              <a:pathLst>
                <a:path w="15846" h="16936" extrusionOk="0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E153B93-3492-9CB1-EC7B-63B5084AD18B}"/>
              </a:ext>
            </a:extLst>
          </p:cNvPr>
          <p:cNvSpPr txBox="1"/>
          <p:nvPr/>
        </p:nvSpPr>
        <p:spPr>
          <a:xfrm>
            <a:off x="762886" y="354004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Стандартизация (</a:t>
            </a:r>
            <a:r>
              <a:rPr lang="en-US" b="1" dirty="0" err="1"/>
              <a:t>RobustScaler</a:t>
            </a:r>
            <a:r>
              <a:rPr lang="ru-RU" b="1" dirty="0"/>
              <a:t>)</a:t>
            </a:r>
            <a:endParaRPr lang="en-US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5FE3D28-2314-50FF-EC94-36DD9C4DF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30" y="3839141"/>
            <a:ext cx="1123735" cy="63262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D057484-E693-F439-18D1-A99CCB6F01D6}"/>
              </a:ext>
            </a:extLst>
          </p:cNvPr>
          <p:cNvSpPr txBox="1"/>
          <p:nvPr/>
        </p:nvSpPr>
        <p:spPr>
          <a:xfrm>
            <a:off x="5980813" y="1295683"/>
            <a:ext cx="30506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Степенные преобразования: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Бокса-Кокса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Яо-Джонсона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Яо-Джонсона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92943B2-27A9-124D-0AFE-BFA637154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0293" y="2015776"/>
            <a:ext cx="2276475" cy="923925"/>
          </a:xfrm>
          <a:prstGeom prst="rect">
            <a:avLst/>
          </a:prstGeom>
        </p:spPr>
      </p:pic>
      <p:sp>
        <p:nvSpPr>
          <p:cNvPr id="22" name="AutoShape 2" descr="Выходное изображение">
            <a:extLst>
              <a:ext uri="{FF2B5EF4-FFF2-40B4-BE49-F238E27FC236}">
                <a16:creationId xmlns:a16="http://schemas.microsoft.com/office/drawing/2014/main" id="{A17DDBB1-B031-BA52-CCC7-7BCDEF67DF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2369288" cy="236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8C0A0C6-C060-5BE3-5B12-11F656D220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8165" y="3065681"/>
            <a:ext cx="4745559" cy="200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729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4" y="349597"/>
            <a:ext cx="8694935" cy="6135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Трансформация. Категориальные признаки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6F6ED-8E23-236B-6A08-CD13D3886A2B}"/>
              </a:ext>
            </a:extLst>
          </p:cNvPr>
          <p:cNvSpPr txBox="1"/>
          <p:nvPr/>
        </p:nvSpPr>
        <p:spPr>
          <a:xfrm>
            <a:off x="5829138" y="132935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One-Hot Encoding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89211A-BF3C-797C-C5B9-74652D1DD7E1}"/>
              </a:ext>
            </a:extLst>
          </p:cNvPr>
          <p:cNvSpPr txBox="1"/>
          <p:nvPr/>
        </p:nvSpPr>
        <p:spPr>
          <a:xfrm>
            <a:off x="237070" y="1329353"/>
            <a:ext cx="2039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Label Encoding</a:t>
            </a:r>
          </a:p>
        </p:txBody>
      </p:sp>
      <p:pic>
        <p:nvPicPr>
          <p:cNvPr id="10242" name="Picture 2" descr="How to Perform Label Encoding in R (With Examples)">
            <a:extLst>
              <a:ext uri="{FF2B5EF4-FFF2-40B4-BE49-F238E27FC236}">
                <a16:creationId xmlns:a16="http://schemas.microsoft.com/office/drawing/2014/main" id="{E848B13F-E72D-5155-8491-FE9A56117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19" y="1637130"/>
            <a:ext cx="2527290" cy="1849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ow to Perform One-Hot Encoding in R">
            <a:extLst>
              <a:ext uri="{FF2B5EF4-FFF2-40B4-BE49-F238E27FC236}">
                <a16:creationId xmlns:a16="http://schemas.microsoft.com/office/drawing/2014/main" id="{7E96549A-093A-D20D-1136-C35A8A651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024" y="1664424"/>
            <a:ext cx="3400235" cy="182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Nominal And Ordinal Encoding In Data Science! | by SagarDhandare | Nerd For  Tech | Medium">
            <a:extLst>
              <a:ext uri="{FF2B5EF4-FFF2-40B4-BE49-F238E27FC236}">
                <a16:creationId xmlns:a16="http://schemas.microsoft.com/office/drawing/2014/main" id="{9F673B85-4BF2-AA1E-DEE6-1D7660553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70" y="3998003"/>
            <a:ext cx="2366145" cy="99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941A95E-2F8B-3FFF-F727-43C9672750F3}"/>
              </a:ext>
            </a:extLst>
          </p:cNvPr>
          <p:cNvSpPr txBox="1"/>
          <p:nvPr/>
        </p:nvSpPr>
        <p:spPr>
          <a:xfrm>
            <a:off x="173809" y="3640397"/>
            <a:ext cx="20392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Original Encoding</a:t>
            </a:r>
          </a:p>
        </p:txBody>
      </p:sp>
      <p:sp>
        <p:nvSpPr>
          <p:cNvPr id="17" name="Google Shape;762;p28">
            <a:extLst>
              <a:ext uri="{FF2B5EF4-FFF2-40B4-BE49-F238E27FC236}">
                <a16:creationId xmlns:a16="http://schemas.microsoft.com/office/drawing/2014/main" id="{B30D8B52-7B27-3326-6D29-EDEA93463F39}"/>
              </a:ext>
            </a:extLst>
          </p:cNvPr>
          <p:cNvSpPr txBox="1">
            <a:spLocks/>
          </p:cNvSpPr>
          <p:nvPr/>
        </p:nvSpPr>
        <p:spPr>
          <a:xfrm>
            <a:off x="4118038" y="3880110"/>
            <a:ext cx="4243538" cy="613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2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ru-RU" sz="1800" b="0" dirty="0"/>
              <a:t>Можно реализовать свою логику если понимаете домен!!!</a:t>
            </a:r>
          </a:p>
        </p:txBody>
      </p:sp>
    </p:spTree>
    <p:extLst>
      <p:ext uri="{BB962C8B-B14F-4D97-AF65-F5344CB8AC3E}">
        <p14:creationId xmlns:p14="http://schemas.microsoft.com/office/powerpoint/2010/main" val="1129029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4" y="349597"/>
            <a:ext cx="8694935" cy="6135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Трансформация. Текстовые признаки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38AE26-B36C-E0C3-F46D-462536626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77" y="1737090"/>
            <a:ext cx="6336868" cy="273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8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4" y="349597"/>
            <a:ext cx="8694935" cy="6135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kumimoji="0" lang="ru-RU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Аугментация</a:t>
            </a:r>
            <a:r>
              <a:rPr lang="ru-RU" dirty="0"/>
              <a:t>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22E917-0A57-15E8-6A48-A69BC1273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617" y="2841621"/>
            <a:ext cx="4868092" cy="2084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81BD3B-BDB2-583B-94B1-8CD8EAEE2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64" y="1394812"/>
            <a:ext cx="5068389" cy="117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00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4" y="349597"/>
            <a:ext cx="8694935" cy="6135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kumimoji="0" lang="ru-RU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Аугментация</a:t>
            </a:r>
            <a:r>
              <a:rPr lang="ru-RU" dirty="0"/>
              <a:t>.</a:t>
            </a:r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F8F5227-3C8C-AF81-CE2B-134E79A86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939" y="1309347"/>
            <a:ext cx="430490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Техническая: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SMOTE (Synthetic Minority Oversampling Technique)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Генерирует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синтетические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примеры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миноритарного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класса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задачах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классификации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Использует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k-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ближайших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соседей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создания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новых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точек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данных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интерполируя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между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существующими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ru-RU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....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37B3E11-04C0-24E5-03EF-9C9735B2B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97" y="1352565"/>
            <a:ext cx="430490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Доменная: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Все что ты сможешь придумать...</a:t>
            </a:r>
            <a:endParaRPr kumimoji="0" lang="ru-RU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186BE499-0313-EF2E-F6AD-89DC4DD93F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3" t="2620" r="43135" b="4478"/>
          <a:stretch/>
        </p:blipFill>
        <p:spPr bwMode="auto">
          <a:xfrm>
            <a:off x="5359021" y="2275895"/>
            <a:ext cx="2834185" cy="2785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880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4" y="349597"/>
            <a:ext cx="8694935" cy="6135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</a:rPr>
              <a:t>Балансировка классов</a:t>
            </a:r>
            <a:r>
              <a:rPr lang="ru-RU" dirty="0"/>
              <a:t>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6F8602-3071-05D5-E0E7-59DB456AA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748" y="1846728"/>
            <a:ext cx="6409899" cy="31156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68BAB1-4B2F-F0B6-BED4-9CF7AE320685}"/>
              </a:ext>
            </a:extLst>
          </p:cNvPr>
          <p:cNvSpPr txBox="1"/>
          <p:nvPr/>
        </p:nvSpPr>
        <p:spPr>
          <a:xfrm>
            <a:off x="449064" y="132234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</a:rPr>
              <a:t>Undersampling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02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4" y="349597"/>
            <a:ext cx="8694935" cy="6135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</a:rPr>
              <a:t>Балансировка классов</a:t>
            </a:r>
            <a:r>
              <a:rPr lang="ru-RU" dirty="0"/>
              <a:t>.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8BAB1-4B2F-F0B6-BED4-9CF7AE320685}"/>
              </a:ext>
            </a:extLst>
          </p:cNvPr>
          <p:cNvSpPr txBox="1"/>
          <p:nvPr/>
        </p:nvSpPr>
        <p:spPr>
          <a:xfrm>
            <a:off x="493594" y="126775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Oversampling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68EFF6-5B29-7F3D-792C-055343198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64" y="1952921"/>
            <a:ext cx="3872029" cy="2502231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CAE5CE8-60A4-F367-0B3B-DD0FDCE17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6531" y="1377583"/>
            <a:ext cx="425948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SMOTE (Synthetic Minority Oversampling Technique)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Генерация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синтетических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примеров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миноритарного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класса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путем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интерполяции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между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существующими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примерами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с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использованием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k-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ближайших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соседей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ADASYN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Усовершенствованный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SMOTE,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который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уделяет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больше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внимания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примерам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сложным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классификации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37931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>
            <a:spLocks noGrp="1"/>
          </p:cNvSpPr>
          <p:nvPr>
            <p:ph type="title"/>
          </p:nvPr>
        </p:nvSpPr>
        <p:spPr>
          <a:xfrm>
            <a:off x="449064" y="349597"/>
            <a:ext cx="8694935" cy="6135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</a:rPr>
              <a:t>Что еще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AE5CE8-60A4-F367-0B3B-DD0FDCE17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19" y="1479377"/>
            <a:ext cx="85490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Статистика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en-US" sz="18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en-US" sz="1800" dirty="0">
                <a:solidFill>
                  <a:schemeClr val="bg1"/>
                </a:solidFill>
                <a:latin typeface="+mj-lt"/>
              </a:rPr>
              <a:t>Kaggle </a:t>
            </a:r>
            <a:r>
              <a:rPr lang="ru-RU" altLang="en-US" sz="1800" dirty="0">
                <a:solidFill>
                  <a:schemeClr val="bg1"/>
                </a:solidFill>
                <a:latin typeface="+mj-lt"/>
              </a:rPr>
              <a:t>практики (много хороших примеров)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en-US" sz="18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800" i="0" dirty="0">
                <a:solidFill>
                  <a:srgbClr val="242424"/>
                </a:solidFill>
                <a:effectLst/>
                <a:latin typeface="+mj-lt"/>
              </a:rPr>
              <a:t>Kaggle Project Best Practices 101: Exploratory Data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+mj-lt"/>
                <a:hlinkClick r:id="rId3"/>
              </a:rPr>
              <a:t>https://medium.com/@TheKaggler/kaggle-project-best-practices-101-exploratory-data-analysis-cc0b34718280</a:t>
            </a:r>
            <a:endParaRPr lang="ru-RU" altLang="en-US" sz="1800" dirty="0">
              <a:solidFill>
                <a:schemeClr val="bg1"/>
              </a:solidFill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u-RU" altLang="en-US" sz="1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116030"/>
      </p:ext>
    </p:extLst>
  </p:cSld>
  <p:clrMapOvr>
    <a:masterClrMapping/>
  </p:clrMapOvr>
</p:sld>
</file>

<file path=ppt/theme/theme1.xml><?xml version="1.0" encoding="utf-8"?>
<a:theme xmlns:a="http://schemas.openxmlformats.org/drawingml/2006/main" name="Timeline Infographics by Slidesgo">
  <a:themeElements>
    <a:clrScheme name="Simple Light">
      <a:dk1>
        <a:srgbClr val="000000"/>
      </a:dk1>
      <a:lt1>
        <a:srgbClr val="FFFFFF"/>
      </a:lt1>
      <a:dk2>
        <a:srgbClr val="D9D9D9"/>
      </a:dk2>
      <a:lt2>
        <a:srgbClr val="5F5F5F"/>
      </a:lt2>
      <a:accent1>
        <a:srgbClr val="6C63FF"/>
      </a:accent1>
      <a:accent2>
        <a:srgbClr val="8EDBBF"/>
      </a:accent2>
      <a:accent3>
        <a:srgbClr val="F3F3F3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3312</TotalTime>
  <Words>898</Words>
  <Application>Microsoft Office PowerPoint</Application>
  <PresentationFormat>On-screen Show (16:9)</PresentationFormat>
  <Paragraphs>221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Courier New</vt:lpstr>
      <vt:lpstr>Inter</vt:lpstr>
      <vt:lpstr>Montserrat</vt:lpstr>
      <vt:lpstr>Montserrat Medium</vt:lpstr>
      <vt:lpstr>Timeline Infographics by Slidesgo</vt:lpstr>
      <vt:lpstr>Slidesgo Final Pages</vt:lpstr>
      <vt:lpstr>Описательный анализ данных (Exploratory Data Analysis) и основные шаги препроцессинга данных </vt:lpstr>
      <vt:lpstr>Что будем изучать</vt:lpstr>
      <vt:lpstr>Аналитик данных</vt:lpstr>
      <vt:lpstr>Что </vt:lpstr>
      <vt:lpstr>Аналитик данных</vt:lpstr>
      <vt:lpstr>PowerPoint Presentation</vt:lpstr>
      <vt:lpstr>Сбор данных</vt:lpstr>
      <vt:lpstr>Очистка. Преобразование форматов </vt:lpstr>
      <vt:lpstr>Очистка. Пропущенные значения Невалидные значения </vt:lpstr>
      <vt:lpstr>Очистка. Выбросы</vt:lpstr>
      <vt:lpstr>Снижение размерности. Корреляционный анализ </vt:lpstr>
      <vt:lpstr>Трансформация. Снижение размерности </vt:lpstr>
      <vt:lpstr>Трансформация. Стандартизация, нормализация</vt:lpstr>
      <vt:lpstr>Трансформация. Категориальные признаки</vt:lpstr>
      <vt:lpstr>Трансформация. Текстовые признаки</vt:lpstr>
      <vt:lpstr>Аугментация.</vt:lpstr>
      <vt:lpstr>Аугментация.</vt:lpstr>
      <vt:lpstr>Балансировка классов.</vt:lpstr>
      <vt:lpstr>Балансировка классов.</vt:lpstr>
      <vt:lpstr>Что еще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semen</dc:creator>
  <cp:lastModifiedBy>Семен Косяченко</cp:lastModifiedBy>
  <cp:revision>9</cp:revision>
  <dcterms:modified xsi:type="dcterms:W3CDTF">2025-10-18T09:12:36Z</dcterms:modified>
</cp:coreProperties>
</file>