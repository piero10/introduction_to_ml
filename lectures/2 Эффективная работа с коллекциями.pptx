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4"/>
  </p:notesMasterIdLst>
  <p:sldIdLst>
    <p:sldId id="271" r:id="rId3"/>
    <p:sldId id="278" r:id="rId4"/>
    <p:sldId id="301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20" r:id="rId13"/>
    <p:sldId id="312" r:id="rId14"/>
    <p:sldId id="314" r:id="rId15"/>
    <p:sldId id="315" r:id="rId16"/>
    <p:sldId id="323" r:id="rId17"/>
    <p:sldId id="321" r:id="rId18"/>
    <p:sldId id="317" r:id="rId19"/>
    <p:sldId id="318" r:id="rId20"/>
    <p:sldId id="319" r:id="rId21"/>
    <p:sldId id="322" r:id="rId22"/>
    <p:sldId id="324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7FA728-1AD8-4869-9260-0FFEE38EFA66}">
  <a:tblStyle styleId="{647FA728-1AD8-4869-9260-0FFEE38EFA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88741" autoAdjust="0"/>
  </p:normalViewPr>
  <p:slideViewPr>
    <p:cSldViewPr snapToGrid="0">
      <p:cViewPr>
        <p:scale>
          <a:sx n="75" d="100"/>
          <a:sy n="75" d="100"/>
        </p:scale>
        <p:origin x="965" y="3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71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Анализ сложности необходим для   получения оценок или границ для объема и времени работы, необходимых алгоритму для успешной обработки входных данных.</a:t>
            </a: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Т.е.</a:t>
            </a:r>
          </a:p>
          <a:p>
            <a:pPr marL="514350" indent="-514350">
              <a:buAutoNum type="arabicPeriod"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Сколько времени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нужно алгоритму для выполнения.</a:t>
            </a:r>
          </a:p>
          <a:p>
            <a:pPr marL="514350" indent="-514350">
              <a:buAutoNum type="arabicPeriod"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Сколько ресурсов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(памяти) требуется для выполнения.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9716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чем можно измерять сложность</a:t>
            </a: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алгоритмов?</a:t>
            </a: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	Сложность алгоритмов можно измерять в</a:t>
            </a: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минутах, секундах. Но…</a:t>
            </a:r>
          </a:p>
          <a:p>
            <a:pPr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Зависти от значения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Степень у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i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i="1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…)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играет большую роль, чем коэффициенты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4793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668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478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908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71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891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100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833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3206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5342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4984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162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4080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Балансировка?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B-tree </a:t>
            </a:r>
            <a:r>
              <a:rPr lang="ru-RU" dirty="0"/>
              <a:t>в </a:t>
            </a:r>
            <a:r>
              <a:rPr lang="en-US" dirty="0" err="1"/>
              <a:t>sql</a:t>
            </a:r>
            <a:r>
              <a:rPr lang="ru-RU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1064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Многомерный </a:t>
            </a:r>
            <a:r>
              <a:rPr lang="ru-RU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м</a:t>
            </a: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ассив как в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Данные храняться непрерывно в памяти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Все элементы одного типа</a:t>
            </a:r>
          </a:p>
          <a:p>
            <a:pPr marL="285750" indent="-285750">
              <a:buFontTx/>
              <a:buChar char="-"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Ве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кторизация операций (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broadcasting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Оптимизированные аггрегационные функции (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mean, std, ….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ru-RU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ru-RU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Как работать эффективно:</a:t>
            </a: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Избегайте циклов (есть поддержка срезов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view </a:t>
            </a:r>
            <a:r>
              <a:rPr lang="en-US" alt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arr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[0:3]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Пользуйтесь встроенными функциями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Используйте методы для изменения формы массива (</a:t>
            </a:r>
            <a:r>
              <a:rPr lang="en-US" dirty="0"/>
              <a:t>reshape, flatten, transpose</a:t>
            </a:r>
            <a:r>
              <a:rPr lang="ru-RU" dirty="0"/>
              <a:t>)</a:t>
            </a:r>
            <a:endParaRPr lang="ru-RU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846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248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Таблицы поверх </a:t>
            </a:r>
            <a:r>
              <a:rPr lang="en-US" dirty="0" err="1"/>
              <a:t>numpy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</a:t>
            </a:r>
            <a:r>
              <a:rPr lang="en-US" dirty="0"/>
              <a:t>d </a:t>
            </a:r>
            <a:r>
              <a:rPr lang="ru-RU" dirty="0"/>
              <a:t> - </a:t>
            </a:r>
            <a:r>
              <a:rPr lang="en-US" dirty="0"/>
              <a:t>series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2d - </a:t>
            </a:r>
            <a:r>
              <a:rPr lang="en-US" dirty="0" err="1"/>
              <a:t>dataframe</a:t>
            </a:r>
            <a:br>
              <a:rPr lang="en-US" dirty="0"/>
            </a:br>
            <a:r>
              <a:rPr lang="ru-RU" dirty="0"/>
              <a:t>Индексы - ключи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Мультииндексы как в  </a:t>
            </a:r>
            <a:r>
              <a:rPr lang="en-US" dirty="0" err="1"/>
              <a:t>sql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Типы данных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Rolling </a:t>
            </a:r>
            <a:r>
              <a:rPr lang="ru-RU" dirty="0"/>
              <a:t>функции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Срезы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 прозициям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маски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Поддерживает </a:t>
            </a:r>
            <a:r>
              <a:rPr lang="en-US" dirty="0"/>
              <a:t>lambda </a:t>
            </a:r>
            <a:r>
              <a:rPr lang="ru-RU" dirty="0"/>
              <a:t>функции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Join </a:t>
            </a:r>
            <a:r>
              <a:rPr lang="ru-RU" dirty="0"/>
              <a:t>как в </a:t>
            </a:r>
            <a:r>
              <a:rPr lang="en-US" dirty="0" err="1"/>
              <a:t>sql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Группировка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Пребразование в словать и обратно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Pivot </a:t>
            </a:r>
            <a:r>
              <a:rPr lang="ru-RU" dirty="0"/>
              <a:t>таблицы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Timeseries 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Строить графики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Импорт, экспорт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1098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Минимум который вам надо освоить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Давайте возьмем одну задачку с </a:t>
            </a:r>
            <a:r>
              <a:rPr lang="en-US" dirty="0" err="1"/>
              <a:t>Leetcode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11184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Разбор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условия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задачи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Формулировка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задачи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указывает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формат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ввода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вывода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ограничения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для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данных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ввода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использования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памяти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вас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требуется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написать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быструю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которая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уложится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в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ограничения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времени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использованию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памяти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Проектирование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вы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поняли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в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чём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состоит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задача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начинайте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проектировать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забудьте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доказать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что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он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работает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правильно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Реализация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спроектирован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его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можно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реализовать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в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вашем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языке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программирования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Тестирование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отладка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Тестирование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это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искусство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поиска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багов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Отладка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это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искусство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устранения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багов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готова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приступайте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к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тестированию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! А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если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обнаружите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баг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исправьте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его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протестируйте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снова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Отправка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программы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оценку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протестирована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сдайте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её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системе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оценки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Если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вы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увидите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сообщение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CoFoSansMono_bba9e6"/>
              </a:rPr>
              <a:t>OK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значит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всё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в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порядке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Если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нет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возвращайтесь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к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предыдущим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шагам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323232"/>
              </a:solidFill>
              <a:effectLst/>
              <a:latin typeface="__YSText_f6ad36"/>
            </a:endParaRPr>
          </a:p>
        </p:txBody>
      </p:sp>
    </p:spTree>
    <p:extLst>
      <p:ext uri="{BB962C8B-B14F-4D97-AF65-F5344CB8AC3E}">
        <p14:creationId xmlns:p14="http://schemas.microsoft.com/office/powerpoint/2010/main" val="42548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evdocs/user/basic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evdocs/user/basics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andas.pydata.org/doc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ctrTitle"/>
          </p:nvPr>
        </p:nvSpPr>
        <p:spPr>
          <a:xfrm>
            <a:off x="457200" y="707571"/>
            <a:ext cx="4487400" cy="24283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Эффективная работа с коллекциями</a:t>
            </a:r>
            <a:r>
              <a:rPr lang="en-US" sz="4000" dirty="0"/>
              <a:t> </a:t>
            </a:r>
            <a:r>
              <a:rPr lang="ru-RU" sz="4000" dirty="0"/>
              <a:t>в </a:t>
            </a:r>
            <a:r>
              <a:rPr lang="en-US" sz="4000" dirty="0"/>
              <a:t>Python</a:t>
            </a:r>
            <a:endParaRPr sz="4000"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subTitle" idx="1"/>
          </p:nvPr>
        </p:nvSpPr>
        <p:spPr>
          <a:xfrm>
            <a:off x="502920" y="356643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Семен Косяченко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1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Почему важна алгоритмическая сложность</a:t>
            </a:r>
            <a:endParaRPr dirty="0"/>
          </a:p>
        </p:txBody>
      </p:sp>
      <p:grpSp>
        <p:nvGrpSpPr>
          <p:cNvPr id="24" name="Google Shape;788;p28">
            <a:extLst>
              <a:ext uri="{FF2B5EF4-FFF2-40B4-BE49-F238E27FC236}">
                <a16:creationId xmlns:a16="http://schemas.microsoft.com/office/drawing/2014/main" id="{F5337C7A-E3A5-265F-4BD2-39F4627BFD5D}"/>
              </a:ext>
            </a:extLst>
          </p:cNvPr>
          <p:cNvGrpSpPr/>
          <p:nvPr/>
        </p:nvGrpSpPr>
        <p:grpSpPr>
          <a:xfrm>
            <a:off x="2121150" y="1854526"/>
            <a:ext cx="291890" cy="291890"/>
            <a:chOff x="1492675" y="4992125"/>
            <a:chExt cx="481825" cy="481825"/>
          </a:xfrm>
        </p:grpSpPr>
        <p:sp>
          <p:nvSpPr>
            <p:cNvPr id="25" name="Google Shape;789;p28">
              <a:extLst>
                <a:ext uri="{FF2B5EF4-FFF2-40B4-BE49-F238E27FC236}">
                  <a16:creationId xmlns:a16="http://schemas.microsoft.com/office/drawing/2014/main" id="{92B1630A-7B42-C79C-55D4-7E1286EA27FB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790;p28">
              <a:extLst>
                <a:ext uri="{FF2B5EF4-FFF2-40B4-BE49-F238E27FC236}">
                  <a16:creationId xmlns:a16="http://schemas.microsoft.com/office/drawing/2014/main" id="{079A2C72-2BCB-3834-1521-56B14B1F6594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F39A6BA-B220-E01F-0BCF-E0139A17C9E4}"/>
              </a:ext>
            </a:extLst>
          </p:cNvPr>
          <p:cNvSpPr txBox="1"/>
          <p:nvPr/>
        </p:nvSpPr>
        <p:spPr>
          <a:xfrm>
            <a:off x="2411297" y="1854526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Inter"/>
              </a:rPr>
              <a:t>Эффективность кода → скорость выполнения</a:t>
            </a:r>
            <a:endParaRPr lang="en-US" dirty="0">
              <a:latin typeface="Inter"/>
            </a:endParaRPr>
          </a:p>
          <a:p>
            <a:endParaRPr lang="ru-RU" dirty="0">
              <a:latin typeface="Inter"/>
            </a:endParaRPr>
          </a:p>
          <a:p>
            <a:r>
              <a:rPr lang="ru-RU" dirty="0">
                <a:latin typeface="Inter"/>
              </a:rPr>
              <a:t>Масштабируемость (работа с большими данными)</a:t>
            </a:r>
            <a:endParaRPr lang="en-US" dirty="0">
              <a:latin typeface="Inter"/>
            </a:endParaRPr>
          </a:p>
          <a:p>
            <a:endParaRPr lang="ru-RU" dirty="0">
              <a:latin typeface="Inter"/>
            </a:endParaRPr>
          </a:p>
          <a:p>
            <a:r>
              <a:rPr lang="ru-RU" dirty="0">
                <a:latin typeface="Inter"/>
              </a:rPr>
              <a:t>Прямое влияние на потребление ресурсов</a:t>
            </a:r>
            <a:endParaRPr lang="en-US" dirty="0">
              <a:latin typeface="Inter"/>
            </a:endParaRPr>
          </a:p>
          <a:p>
            <a:endParaRPr lang="en-US" dirty="0">
              <a:latin typeface="Inter"/>
            </a:endParaRPr>
          </a:p>
          <a:p>
            <a:r>
              <a:rPr lang="ru-RU" dirty="0">
                <a:latin typeface="Inter"/>
              </a:rPr>
              <a:t>Во всех крупных компаниях при трудоустройстве есть алгоритмическая секция</a:t>
            </a:r>
          </a:p>
          <a:p>
            <a:endParaRPr lang="en-US" dirty="0">
              <a:latin typeface="Inter"/>
            </a:endParaRPr>
          </a:p>
        </p:txBody>
      </p:sp>
      <p:grpSp>
        <p:nvGrpSpPr>
          <p:cNvPr id="4" name="Google Shape;788;p28">
            <a:extLst>
              <a:ext uri="{FF2B5EF4-FFF2-40B4-BE49-F238E27FC236}">
                <a16:creationId xmlns:a16="http://schemas.microsoft.com/office/drawing/2014/main" id="{C1E63B1C-E103-FD1C-E497-17516738161E}"/>
              </a:ext>
            </a:extLst>
          </p:cNvPr>
          <p:cNvGrpSpPr/>
          <p:nvPr/>
        </p:nvGrpSpPr>
        <p:grpSpPr>
          <a:xfrm>
            <a:off x="2119407" y="2292676"/>
            <a:ext cx="291890" cy="291890"/>
            <a:chOff x="1492675" y="4992125"/>
            <a:chExt cx="481825" cy="481825"/>
          </a:xfrm>
        </p:grpSpPr>
        <p:sp>
          <p:nvSpPr>
            <p:cNvPr id="5" name="Google Shape;789;p28">
              <a:extLst>
                <a:ext uri="{FF2B5EF4-FFF2-40B4-BE49-F238E27FC236}">
                  <a16:creationId xmlns:a16="http://schemas.microsoft.com/office/drawing/2014/main" id="{DBEEF055-DD9C-DE64-768B-97388508C28A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790;p28">
              <a:extLst>
                <a:ext uri="{FF2B5EF4-FFF2-40B4-BE49-F238E27FC236}">
                  <a16:creationId xmlns:a16="http://schemas.microsoft.com/office/drawing/2014/main" id="{6AD84FFB-30C4-7F54-8456-3ECE23B801F4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" name="Google Shape;788;p28">
            <a:extLst>
              <a:ext uri="{FF2B5EF4-FFF2-40B4-BE49-F238E27FC236}">
                <a16:creationId xmlns:a16="http://schemas.microsoft.com/office/drawing/2014/main" id="{590F4218-61F5-D518-3CDC-66D01CF94E2C}"/>
              </a:ext>
            </a:extLst>
          </p:cNvPr>
          <p:cNvGrpSpPr/>
          <p:nvPr/>
        </p:nvGrpSpPr>
        <p:grpSpPr>
          <a:xfrm>
            <a:off x="2119407" y="2766098"/>
            <a:ext cx="291890" cy="291890"/>
            <a:chOff x="1492675" y="4992125"/>
            <a:chExt cx="481825" cy="481825"/>
          </a:xfrm>
        </p:grpSpPr>
        <p:sp>
          <p:nvSpPr>
            <p:cNvPr id="27" name="Google Shape;789;p28">
              <a:extLst>
                <a:ext uri="{FF2B5EF4-FFF2-40B4-BE49-F238E27FC236}">
                  <a16:creationId xmlns:a16="http://schemas.microsoft.com/office/drawing/2014/main" id="{CD065E72-1D9B-9783-91E0-B2912772014F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" name="Google Shape;790;p28">
              <a:extLst>
                <a:ext uri="{FF2B5EF4-FFF2-40B4-BE49-F238E27FC236}">
                  <a16:creationId xmlns:a16="http://schemas.microsoft.com/office/drawing/2014/main" id="{C2EC8FD1-F629-B8BA-487D-B17988D557A8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1" name="Google Shape;788;p28">
            <a:extLst>
              <a:ext uri="{FF2B5EF4-FFF2-40B4-BE49-F238E27FC236}">
                <a16:creationId xmlns:a16="http://schemas.microsoft.com/office/drawing/2014/main" id="{FC7366AA-24FC-0C9C-FF65-AFDBD952F3B8}"/>
              </a:ext>
            </a:extLst>
          </p:cNvPr>
          <p:cNvGrpSpPr/>
          <p:nvPr/>
        </p:nvGrpSpPr>
        <p:grpSpPr>
          <a:xfrm>
            <a:off x="2119407" y="3204903"/>
            <a:ext cx="291890" cy="291890"/>
            <a:chOff x="1492675" y="4992125"/>
            <a:chExt cx="481825" cy="481825"/>
          </a:xfrm>
        </p:grpSpPr>
        <p:sp>
          <p:nvSpPr>
            <p:cNvPr id="32" name="Google Shape;789;p28">
              <a:extLst>
                <a:ext uri="{FF2B5EF4-FFF2-40B4-BE49-F238E27FC236}">
                  <a16:creationId xmlns:a16="http://schemas.microsoft.com/office/drawing/2014/main" id="{C5D6418E-6B6D-32E3-9EBA-3E2C8FB67607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790;p28">
              <a:extLst>
                <a:ext uri="{FF2B5EF4-FFF2-40B4-BE49-F238E27FC236}">
                  <a16:creationId xmlns:a16="http://schemas.microsoft.com/office/drawing/2014/main" id="{189A4A70-358E-E868-6912-08F851034CA4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90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чем можно измерять сложность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алгоритмов?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B61DF7-E3CE-0EF4-9EE5-AE5F4C866644}"/>
              </a:ext>
            </a:extLst>
          </p:cNvPr>
          <p:cNvSpPr txBox="1"/>
          <p:nvPr/>
        </p:nvSpPr>
        <p:spPr>
          <a:xfrm>
            <a:off x="3046704" y="182799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Inter"/>
              </a:rPr>
              <a:t>Время </a:t>
            </a:r>
          </a:p>
          <a:p>
            <a:endParaRPr lang="ru-RU" dirty="0">
              <a:latin typeface="Inter"/>
            </a:endParaRPr>
          </a:p>
          <a:p>
            <a:r>
              <a:rPr lang="ru-RU" dirty="0">
                <a:latin typeface="Inter"/>
              </a:rPr>
              <a:t>Такты процессора</a:t>
            </a:r>
          </a:p>
          <a:p>
            <a:endParaRPr lang="ru-RU" dirty="0">
              <a:latin typeface="Inter"/>
            </a:endParaRPr>
          </a:p>
          <a:p>
            <a:r>
              <a:rPr lang="ru-RU" dirty="0">
                <a:latin typeface="Inter"/>
              </a:rPr>
              <a:t>Операции</a:t>
            </a:r>
            <a:endParaRPr lang="en-US" dirty="0">
              <a:latin typeface="Inter"/>
            </a:endParaRPr>
          </a:p>
        </p:txBody>
      </p:sp>
      <p:grpSp>
        <p:nvGrpSpPr>
          <p:cNvPr id="63" name="Google Shape;705;p27">
            <a:extLst>
              <a:ext uri="{FF2B5EF4-FFF2-40B4-BE49-F238E27FC236}">
                <a16:creationId xmlns:a16="http://schemas.microsoft.com/office/drawing/2014/main" id="{4CD13E31-630A-064B-1F05-6A3F15403687}"/>
              </a:ext>
            </a:extLst>
          </p:cNvPr>
          <p:cNvGrpSpPr/>
          <p:nvPr/>
        </p:nvGrpSpPr>
        <p:grpSpPr>
          <a:xfrm>
            <a:off x="2705224" y="1807873"/>
            <a:ext cx="291890" cy="291890"/>
            <a:chOff x="2085525" y="4992125"/>
            <a:chExt cx="481825" cy="481825"/>
          </a:xfrm>
        </p:grpSpPr>
        <p:sp>
          <p:nvSpPr>
            <p:cNvPr id="704" name="Google Shape;706;p27">
              <a:extLst>
                <a:ext uri="{FF2B5EF4-FFF2-40B4-BE49-F238E27FC236}">
                  <a16:creationId xmlns:a16="http://schemas.microsoft.com/office/drawing/2014/main" id="{BFF8EDA0-6322-6318-C9DE-0C91773C4A3B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5" name="Google Shape;707;p27">
              <a:extLst>
                <a:ext uri="{FF2B5EF4-FFF2-40B4-BE49-F238E27FC236}">
                  <a16:creationId xmlns:a16="http://schemas.microsoft.com/office/drawing/2014/main" id="{5737671D-05CE-E750-034C-7BC9D9D23E3F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06" name="Google Shape;705;p27">
            <a:extLst>
              <a:ext uri="{FF2B5EF4-FFF2-40B4-BE49-F238E27FC236}">
                <a16:creationId xmlns:a16="http://schemas.microsoft.com/office/drawing/2014/main" id="{7537FA07-5A7C-BD54-427E-9B0D5044C906}"/>
              </a:ext>
            </a:extLst>
          </p:cNvPr>
          <p:cNvGrpSpPr/>
          <p:nvPr/>
        </p:nvGrpSpPr>
        <p:grpSpPr>
          <a:xfrm>
            <a:off x="2705201" y="2266827"/>
            <a:ext cx="291890" cy="291890"/>
            <a:chOff x="2085525" y="4992125"/>
            <a:chExt cx="481825" cy="481825"/>
          </a:xfrm>
        </p:grpSpPr>
        <p:sp>
          <p:nvSpPr>
            <p:cNvPr id="707" name="Google Shape;706;p27">
              <a:extLst>
                <a:ext uri="{FF2B5EF4-FFF2-40B4-BE49-F238E27FC236}">
                  <a16:creationId xmlns:a16="http://schemas.microsoft.com/office/drawing/2014/main" id="{114DD0FB-C3C9-4766-66D0-4817FA06F9F8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8" name="Google Shape;707;p27">
              <a:extLst>
                <a:ext uri="{FF2B5EF4-FFF2-40B4-BE49-F238E27FC236}">
                  <a16:creationId xmlns:a16="http://schemas.microsoft.com/office/drawing/2014/main" id="{8717F61E-E4D9-E571-13CE-A444F6E1B48F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09" name="Google Shape;712;p27">
            <a:extLst>
              <a:ext uri="{FF2B5EF4-FFF2-40B4-BE49-F238E27FC236}">
                <a16:creationId xmlns:a16="http://schemas.microsoft.com/office/drawing/2014/main" id="{1D7463A0-950E-BD48-2227-32AF4C56F602}"/>
              </a:ext>
            </a:extLst>
          </p:cNvPr>
          <p:cNvGrpSpPr/>
          <p:nvPr/>
        </p:nvGrpSpPr>
        <p:grpSpPr>
          <a:xfrm>
            <a:off x="2705201" y="2725781"/>
            <a:ext cx="291890" cy="291890"/>
            <a:chOff x="1492675" y="4992125"/>
            <a:chExt cx="481825" cy="481825"/>
          </a:xfrm>
        </p:grpSpPr>
        <p:sp>
          <p:nvSpPr>
            <p:cNvPr id="710" name="Google Shape;713;p27">
              <a:extLst>
                <a:ext uri="{FF2B5EF4-FFF2-40B4-BE49-F238E27FC236}">
                  <a16:creationId xmlns:a16="http://schemas.microsoft.com/office/drawing/2014/main" id="{DFB4A0D1-6DE1-C69A-4EC1-1BA551734CD6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11" name="Google Shape;714;p27">
              <a:extLst>
                <a:ext uri="{FF2B5EF4-FFF2-40B4-BE49-F238E27FC236}">
                  <a16:creationId xmlns:a16="http://schemas.microsoft.com/office/drawing/2014/main" id="{622F4F4C-38CE-9B44-9760-29995DFAD331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13" name="Picture 712">
            <a:extLst>
              <a:ext uri="{FF2B5EF4-FFF2-40B4-BE49-F238E27FC236}">
                <a16:creationId xmlns:a16="http://schemas.microsoft.com/office/drawing/2014/main" id="{5C442F15-9BBE-C5F8-502B-555A63E9F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223" y="3353243"/>
            <a:ext cx="4814002" cy="834622"/>
          </a:xfrm>
          <a:prstGeom prst="rect">
            <a:avLst/>
          </a:prstGeom>
        </p:spPr>
      </p:pic>
      <p:sp>
        <p:nvSpPr>
          <p:cNvPr id="715" name="TextBox 714">
            <a:extLst>
              <a:ext uri="{FF2B5EF4-FFF2-40B4-BE49-F238E27FC236}">
                <a16:creationId xmlns:a16="http://schemas.microsoft.com/office/drawing/2014/main" id="{3ADB92C6-B30F-73D7-832E-3A352ECAEC64}"/>
              </a:ext>
            </a:extLst>
          </p:cNvPr>
          <p:cNvSpPr txBox="1"/>
          <p:nvPr/>
        </p:nvSpPr>
        <p:spPr>
          <a:xfrm>
            <a:off x="2712281" y="41712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Какая из этих программ «лучше» ???</a:t>
            </a:r>
          </a:p>
        </p:txBody>
      </p:sp>
    </p:spTree>
    <p:extLst>
      <p:ext uri="{BB962C8B-B14F-4D97-AF65-F5344CB8AC3E}">
        <p14:creationId xmlns:p14="http://schemas.microsoft.com/office/powerpoint/2010/main" val="262883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Оценки сложности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C7BB3-255B-6914-4DCB-2458EFCDE36E}"/>
              </a:ext>
            </a:extLst>
          </p:cNvPr>
          <p:cNvSpPr txBox="1"/>
          <p:nvPr/>
        </p:nvSpPr>
        <p:spPr>
          <a:xfrm>
            <a:off x="337457" y="2229182"/>
            <a:ext cx="30044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Для решения большинства проблем существует много различных алгоритмов.</a:t>
            </a:r>
          </a:p>
          <a:p>
            <a:pPr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Какой из них выбрать для решения конкретной задачи?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59F7DF9-F8C6-F895-0248-4A6F6F351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"/>
            <a:ext cx="9144000" cy="51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69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Оценки</a:t>
            </a:r>
            <a:endParaRPr dirty="0"/>
          </a:p>
        </p:txBody>
      </p:sp>
      <p:pic>
        <p:nvPicPr>
          <p:cNvPr id="2050" name="Picture 2" descr="Вычисление сложности алгоритма - Java программирование">
            <a:extLst>
              <a:ext uri="{FF2B5EF4-FFF2-40B4-BE49-F238E27FC236}">
                <a16:creationId xmlns:a16="http://schemas.microsoft.com/office/drawing/2014/main" id="{2DB5EA4F-13DB-2DCB-FAA5-F2836B1E8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23" y="831998"/>
            <a:ext cx="8658225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83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Оценки</a:t>
            </a:r>
            <a:endParaRPr dirty="0"/>
          </a:p>
        </p:txBody>
      </p:sp>
      <p:pic>
        <p:nvPicPr>
          <p:cNvPr id="3074" name="Picture 2" descr="Знай сложности алгоритмов!">
            <a:extLst>
              <a:ext uri="{FF2B5EF4-FFF2-40B4-BE49-F238E27FC236}">
                <a16:creationId xmlns:a16="http://schemas.microsoft.com/office/drawing/2014/main" id="{C79DE7E2-BE6A-330B-58FD-405133884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9144000" cy="509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07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Зачем это нам?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DE201-5A5B-5D45-ACC3-2789C659B726}"/>
              </a:ext>
            </a:extLst>
          </p:cNvPr>
          <p:cNvSpPr txBox="1"/>
          <p:nvPr/>
        </p:nvSpPr>
        <p:spPr>
          <a:xfrm>
            <a:off x="2822777" y="2117416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Inter"/>
              </a:rPr>
              <a:t>Работаем с большими данными (бывает)</a:t>
            </a:r>
            <a:endParaRPr lang="en-US" dirty="0">
              <a:latin typeface="Inter"/>
            </a:endParaRPr>
          </a:p>
          <a:p>
            <a:endParaRPr lang="ru-RU" dirty="0">
              <a:latin typeface="Inter"/>
            </a:endParaRPr>
          </a:p>
          <a:p>
            <a:r>
              <a:rPr lang="ru-RU" dirty="0">
                <a:latin typeface="Inter"/>
              </a:rPr>
              <a:t>Сможем искать узкие места</a:t>
            </a:r>
            <a:endParaRPr lang="en-US" dirty="0">
              <a:latin typeface="Inter"/>
            </a:endParaRPr>
          </a:p>
          <a:p>
            <a:endParaRPr lang="ru-RU" dirty="0">
              <a:latin typeface="Inter"/>
            </a:endParaRPr>
          </a:p>
          <a:p>
            <a:r>
              <a:rPr lang="ru-RU" dirty="0">
                <a:latin typeface="Inter"/>
              </a:rPr>
              <a:t>Ускорять сервисы</a:t>
            </a:r>
          </a:p>
          <a:p>
            <a:endParaRPr lang="en-US" dirty="0">
              <a:latin typeface="Inter"/>
            </a:endParaRPr>
          </a:p>
        </p:txBody>
      </p:sp>
      <p:grpSp>
        <p:nvGrpSpPr>
          <p:cNvPr id="3" name="Google Shape;788;p28">
            <a:extLst>
              <a:ext uri="{FF2B5EF4-FFF2-40B4-BE49-F238E27FC236}">
                <a16:creationId xmlns:a16="http://schemas.microsoft.com/office/drawing/2014/main" id="{25CAC2FD-1DA3-329B-FE6C-2931DEE47887}"/>
              </a:ext>
            </a:extLst>
          </p:cNvPr>
          <p:cNvGrpSpPr/>
          <p:nvPr/>
        </p:nvGrpSpPr>
        <p:grpSpPr>
          <a:xfrm>
            <a:off x="2426238" y="2117416"/>
            <a:ext cx="291890" cy="291890"/>
            <a:chOff x="1492675" y="4992125"/>
            <a:chExt cx="481825" cy="481825"/>
          </a:xfrm>
        </p:grpSpPr>
        <p:sp>
          <p:nvSpPr>
            <p:cNvPr id="4" name="Google Shape;789;p28">
              <a:extLst>
                <a:ext uri="{FF2B5EF4-FFF2-40B4-BE49-F238E27FC236}">
                  <a16:creationId xmlns:a16="http://schemas.microsoft.com/office/drawing/2014/main" id="{94618E28-045B-2DD0-7AAF-D60368E966A1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790;p28">
              <a:extLst>
                <a:ext uri="{FF2B5EF4-FFF2-40B4-BE49-F238E27FC236}">
                  <a16:creationId xmlns:a16="http://schemas.microsoft.com/office/drawing/2014/main" id="{C251B0C3-4499-0A98-29B7-CB240658E6DC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" name="Google Shape;788;p28">
            <a:extLst>
              <a:ext uri="{FF2B5EF4-FFF2-40B4-BE49-F238E27FC236}">
                <a16:creationId xmlns:a16="http://schemas.microsoft.com/office/drawing/2014/main" id="{4732F671-C654-C9FC-9B1B-ADB15CC0214D}"/>
              </a:ext>
            </a:extLst>
          </p:cNvPr>
          <p:cNvGrpSpPr/>
          <p:nvPr/>
        </p:nvGrpSpPr>
        <p:grpSpPr>
          <a:xfrm>
            <a:off x="2426238" y="2517169"/>
            <a:ext cx="291890" cy="291890"/>
            <a:chOff x="1492675" y="4992125"/>
            <a:chExt cx="481825" cy="481825"/>
          </a:xfrm>
        </p:grpSpPr>
        <p:sp>
          <p:nvSpPr>
            <p:cNvPr id="7" name="Google Shape;789;p28">
              <a:extLst>
                <a:ext uri="{FF2B5EF4-FFF2-40B4-BE49-F238E27FC236}">
                  <a16:creationId xmlns:a16="http://schemas.microsoft.com/office/drawing/2014/main" id="{F0D96997-1EBD-02FC-7F22-732C26C156F0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790;p28">
              <a:extLst>
                <a:ext uri="{FF2B5EF4-FFF2-40B4-BE49-F238E27FC236}">
                  <a16:creationId xmlns:a16="http://schemas.microsoft.com/office/drawing/2014/main" id="{1E30B166-BE00-4241-E505-8A892C91044F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" name="Google Shape;788;p28">
            <a:extLst>
              <a:ext uri="{FF2B5EF4-FFF2-40B4-BE49-F238E27FC236}">
                <a16:creationId xmlns:a16="http://schemas.microsoft.com/office/drawing/2014/main" id="{149AC28D-A9DF-BD23-2D60-86427C806429}"/>
              </a:ext>
            </a:extLst>
          </p:cNvPr>
          <p:cNvGrpSpPr/>
          <p:nvPr/>
        </p:nvGrpSpPr>
        <p:grpSpPr>
          <a:xfrm>
            <a:off x="2426238" y="2968085"/>
            <a:ext cx="291890" cy="291890"/>
            <a:chOff x="1492675" y="4992125"/>
            <a:chExt cx="481825" cy="481825"/>
          </a:xfrm>
        </p:grpSpPr>
        <p:sp>
          <p:nvSpPr>
            <p:cNvPr id="10" name="Google Shape;789;p28">
              <a:extLst>
                <a:ext uri="{FF2B5EF4-FFF2-40B4-BE49-F238E27FC236}">
                  <a16:creationId xmlns:a16="http://schemas.microsoft.com/office/drawing/2014/main" id="{0E4092E7-AB45-F7B5-3BC0-4B3109D69358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790;p28">
              <a:extLst>
                <a:ext uri="{FF2B5EF4-FFF2-40B4-BE49-F238E27FC236}">
                  <a16:creationId xmlns:a16="http://schemas.microsoft.com/office/drawing/2014/main" id="{787A1D1B-58E1-AC2E-754F-95A7ECEAF7FC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50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Коллекции в пайтон</a:t>
            </a:r>
            <a:r>
              <a:rPr lang="en-US" dirty="0"/>
              <a:t>. </a:t>
            </a:r>
            <a:r>
              <a:rPr lang="ru-RU" dirty="0"/>
              <a:t>Список</a:t>
            </a:r>
            <a:br>
              <a:rPr lang="ru-RU" dirty="0"/>
            </a:br>
            <a:endParaRPr dirty="0"/>
          </a:p>
        </p:txBody>
      </p:sp>
      <p:pic>
        <p:nvPicPr>
          <p:cNvPr id="4098" name="Picture 2" descr="Python List">
            <a:extLst>
              <a:ext uri="{FF2B5EF4-FFF2-40B4-BE49-F238E27FC236}">
                <a16:creationId xmlns:a16="http://schemas.microsoft.com/office/drawing/2014/main" id="{BEBE4113-8AED-C749-A16B-0F308EA7CF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8" t="23118" r="16647" b="2745"/>
          <a:stretch/>
        </p:blipFill>
        <p:spPr bwMode="auto">
          <a:xfrm>
            <a:off x="1900106" y="1560353"/>
            <a:ext cx="5004033" cy="278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858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11377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Коллекции в</a:t>
            </a:r>
            <a:br>
              <a:rPr lang="en-US" dirty="0"/>
            </a:br>
            <a:r>
              <a:rPr lang="ru-RU" dirty="0"/>
              <a:t>пайтон</a:t>
            </a:r>
            <a:r>
              <a:rPr lang="en-US" dirty="0"/>
              <a:t>. </a:t>
            </a:r>
            <a:br>
              <a:rPr lang="en-US" dirty="0"/>
            </a:br>
            <a:r>
              <a:rPr lang="ru-RU" dirty="0"/>
              <a:t>Список</a:t>
            </a:r>
            <a:br>
              <a:rPr lang="ru-RU" dirty="0"/>
            </a:b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486A5-A0CD-0ABC-BC48-1F188C2D8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70" y="0"/>
            <a:ext cx="70980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5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11377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Hash - </a:t>
            </a:r>
            <a:r>
              <a:rPr lang="ru-RU" dirty="0"/>
              <a:t>функция</a:t>
            </a:r>
            <a:br>
              <a:rPr lang="ru-RU" dirty="0"/>
            </a:br>
            <a:endParaRPr dirty="0"/>
          </a:p>
        </p:txBody>
      </p:sp>
      <p:pic>
        <p:nvPicPr>
          <p:cNvPr id="11266" name="Picture 2" descr="Что такое хеширование. Как работает хеш-функция? | MEXC Блог">
            <a:extLst>
              <a:ext uri="{FF2B5EF4-FFF2-40B4-BE49-F238E27FC236}">
                <a16:creationId xmlns:a16="http://schemas.microsoft.com/office/drawing/2014/main" id="{172B1C78-0CE4-F36C-A46E-A1D58BBCC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" y="2017889"/>
            <a:ext cx="4165600" cy="197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731DB4-BB15-0E25-8B87-FD63551C96B4}"/>
              </a:ext>
            </a:extLst>
          </p:cNvPr>
          <p:cNvSpPr txBox="1"/>
          <p:nvPr/>
        </p:nvSpPr>
        <p:spPr>
          <a:xfrm>
            <a:off x="2286000" y="333144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A24D28-2591-920A-AF4E-A34F22447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694" y="1298336"/>
            <a:ext cx="42626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Детерминированность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Одинаковые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входные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всегда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приводят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к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одинаковому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хеш-значению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Быстродействие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Хеш-функции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должны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быть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вычислительно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быстрыми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чтобы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операции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вставки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удаления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поиска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хеш-таблицах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выполнялись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эффективно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Равномерное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распределение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Хорошая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хеш-функция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должна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равномерно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распределять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хеш-значения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возможному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диапазону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минимизируя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количество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коллизий</a:t>
            </a: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Необратимость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хеш-значения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должно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быть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возможно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восстановить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исходные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Это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свойство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особенно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важно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криптографии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665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3541356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Открытая адресация</a:t>
            </a:r>
            <a:br>
              <a:rPr lang="ru-RU" dirty="0"/>
            </a:b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31DB4-BB15-0E25-8B87-FD63551C96B4}"/>
              </a:ext>
            </a:extLst>
          </p:cNvPr>
          <p:cNvSpPr txBox="1"/>
          <p:nvPr/>
        </p:nvSpPr>
        <p:spPr>
          <a:xfrm>
            <a:off x="2286000" y="333144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  <p:pic>
        <p:nvPicPr>
          <p:cNvPr id="2" name="Picture 3" descr="27. Метод открытой адресации. Двойное хэширование | Структуры данных">
            <a:extLst>
              <a:ext uri="{FF2B5EF4-FFF2-40B4-BE49-F238E27FC236}">
                <a16:creationId xmlns:a16="http://schemas.microsoft.com/office/drawing/2014/main" id="{4D33F9C6-D4C5-DD2D-6E89-C2799F506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28" y="1298336"/>
            <a:ext cx="32385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38067C-091F-9B8F-AADC-2EF3A19A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170" y="1121996"/>
            <a:ext cx="450655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Хеширование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ключей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Каждый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ключ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перед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добавлением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словарь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проходит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через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хеш-функцию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которая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вычисляет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индекс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массиве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слоте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ru-RU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О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ткрыто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Если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два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ключа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имеют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одинаковый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хеш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возникает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коллизия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адресовани</a:t>
            </a:r>
            <a:r>
              <a:rPr kumimoji="0" lang="ru-RU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линейным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пробированием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разрешения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таких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коллизий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Динамическое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изменение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размера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Когда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количество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элементов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словаре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достигает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определённого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порога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его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размер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увеличивается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обычно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два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раза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чтобы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сохранить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эффективность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операций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Сохранение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порядка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вставки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Начиная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с Python 3.7,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словари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сохраняют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порядок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добавления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элементов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Это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стало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возможным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благодаря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изменениям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реализации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хеш-таблицы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9630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11377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Dictionary</a:t>
            </a:r>
            <a:br>
              <a:rPr lang="ru-RU" dirty="0"/>
            </a:br>
            <a:endParaRPr dirty="0"/>
          </a:p>
        </p:txBody>
      </p:sp>
      <p:pic>
        <p:nvPicPr>
          <p:cNvPr id="10245" name="Picture 5" descr="Dictionaries in Python – PYnative">
            <a:extLst>
              <a:ext uri="{FF2B5EF4-FFF2-40B4-BE49-F238E27FC236}">
                <a16:creationId xmlns:a16="http://schemas.microsoft.com/office/drawing/2014/main" id="{61DE303B-D3C2-45C6-983D-BB2A641A9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2" y="963775"/>
            <a:ext cx="646747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145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11377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Set</a:t>
            </a:r>
            <a:br>
              <a:rPr lang="ru-RU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3E2AB-DE4A-99D7-78B3-7CA8635D5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475" y="1839465"/>
            <a:ext cx="4145280" cy="1968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8069" rIns="0" bIns="58719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CoFoSans_319da3"/>
              </a:rPr>
              <a:t>Множества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CoFoSans_319da3"/>
              </a:rPr>
              <a:t> 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CoFoSansMono_16cf16"/>
              </a:rPr>
              <a:t>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CoFoSans_319da3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Множество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—</a:t>
            </a:r>
            <a:r>
              <a:rPr kumimoji="0" lang="ru-RU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коллекции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,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которой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автоматически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удаляются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повторяющиеся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значения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, а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порядок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не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сохраняется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. У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множеств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нет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индексов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но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с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ними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можно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выполнять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полезные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операции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: </a:t>
            </a:r>
            <a:endParaRPr kumimoji="0" lang="ru-RU" altLang="en-US" sz="1300" b="0" i="0" u="none" strike="noStrike" cap="none" normalizeH="0" baseline="0" dirty="0">
              <a:ln>
                <a:noFill/>
              </a:ln>
              <a:solidFill>
                <a:srgbClr val="323232"/>
              </a:solidFill>
              <a:effectLst/>
              <a:latin typeface="__YSText_b6e006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быстро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проверять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наличие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элемента</a:t>
            </a:r>
            <a:endParaRPr lang="ru-RU" altLang="en-US" sz="1300" dirty="0">
              <a:solidFill>
                <a:srgbClr val="323232"/>
              </a:solidFill>
              <a:latin typeface="__YSText_b6e006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находить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пересечения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и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объединения</a:t>
            </a:r>
            <a:endParaRPr lang="ru-RU" altLang="en-US" sz="1300" dirty="0">
              <a:solidFill>
                <a:srgbClr val="323232"/>
              </a:solidFill>
              <a:latin typeface="__YSText_b6e006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удалять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дубли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b6e006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36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11377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deque</a:t>
            </a:r>
            <a:br>
              <a:rPr lang="ru-RU"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1CC96-2386-9E4E-E1FF-8D1C5A609A61}"/>
              </a:ext>
            </a:extLst>
          </p:cNvPr>
          <p:cNvSpPr txBox="1"/>
          <p:nvPr/>
        </p:nvSpPr>
        <p:spPr>
          <a:xfrm>
            <a:off x="641758" y="1398075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Inter"/>
              </a:rPr>
              <a:t> </a:t>
            </a:r>
            <a:r>
              <a:rPr lang="ru-RU" dirty="0"/>
              <a:t>Двунаправленная очередь, поддерживающая эффективное добавление и удаление элементов с обоих концов. Идеально подходит для реализации очередей и стеков</a:t>
            </a:r>
            <a:r>
              <a:rPr lang="ru-RU" dirty="0">
                <a:latin typeface="Inter"/>
              </a:rPr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8DB83-DFDA-3450-3790-4F6DCA07E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55" y="2397547"/>
            <a:ext cx="81629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06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11377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stack</a:t>
            </a:r>
            <a:br>
              <a:rPr lang="ru-RU"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1CC96-2386-9E4E-E1FF-8D1C5A609A61}"/>
              </a:ext>
            </a:extLst>
          </p:cNvPr>
          <p:cNvSpPr txBox="1"/>
          <p:nvPr/>
        </p:nvSpPr>
        <p:spPr>
          <a:xfrm>
            <a:off x="641758" y="139807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nter"/>
              </a:rPr>
              <a:t>LIFO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6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172228" y="39205"/>
            <a:ext cx="2720262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Binary tree, B-tree</a:t>
            </a:r>
            <a:br>
              <a:rPr lang="ru-RU" dirty="0"/>
            </a:br>
            <a:endParaRPr dirty="0"/>
          </a:p>
        </p:txBody>
      </p:sp>
      <p:pic>
        <p:nvPicPr>
          <p:cNvPr id="17410" name="Picture 2" descr="B-tree vs. Binary Tree - Open4Tech">
            <a:extLst>
              <a:ext uri="{FF2B5EF4-FFF2-40B4-BE49-F238E27FC236}">
                <a16:creationId xmlns:a16="http://schemas.microsoft.com/office/drawing/2014/main" id="{D87FA4A2-0471-4F17-85FC-3F1DF16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7257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743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2F71B-0C2A-2D6F-8BDE-ADD07EF50E0F}"/>
              </a:ext>
            </a:extLst>
          </p:cNvPr>
          <p:cNvSpPr txBox="1"/>
          <p:nvPr/>
        </p:nvSpPr>
        <p:spPr>
          <a:xfrm>
            <a:off x="462280" y="13269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https://numpy.org/devdocs/user/basics.html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9701E-D06D-4CD6-77D3-EDC69DB14CEC}"/>
              </a:ext>
            </a:extLst>
          </p:cNvPr>
          <p:cNvSpPr txBox="1"/>
          <p:nvPr/>
        </p:nvSpPr>
        <p:spPr>
          <a:xfrm>
            <a:off x="502920" y="1850152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Многомерный 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м</a:t>
            </a: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ассив как в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Данные храняться непрерывно в памяти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Все элементы одного типа</a:t>
            </a:r>
          </a:p>
          <a:p>
            <a:pPr marL="285750" indent="-285750">
              <a:buFontTx/>
              <a:buChar char="-"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Ве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кторизация операций (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broadcasting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Оптимизированные аггрегационные функции (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mean, std, ….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ru-RU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Как работать эффективно: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Избегайте циклов (есть поддержка срезов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view </a:t>
            </a:r>
            <a:r>
              <a:rPr lang="en-US" alt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arr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[0:3]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Пользуйтесь встроенными функциями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Используйте методы для изменения формы массива (</a:t>
            </a:r>
            <a:r>
              <a:rPr lang="en-US" dirty="0"/>
              <a:t>reshape, flatten, transpose</a:t>
            </a:r>
            <a:r>
              <a:rPr lang="ru-RU" dirty="0"/>
              <a:t>)</a:t>
            </a:r>
            <a:endParaRPr lang="ru-RU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36ED9DD-5EFC-D328-7CAE-0CC6EBA2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" y="159695"/>
            <a:ext cx="7717500" cy="482400"/>
          </a:xfrm>
        </p:spPr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pic>
        <p:nvPicPr>
          <p:cNvPr id="13316" name="Picture 4" descr="Fig. 1">
            <a:extLst>
              <a:ext uri="{FF2B5EF4-FFF2-40B4-BE49-F238E27FC236}">
                <a16:creationId xmlns:a16="http://schemas.microsoft.com/office/drawing/2014/main" id="{EA12D33F-71AF-4EB2-0A21-E7B645EDC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5632"/>
            <a:ext cx="9144000" cy="418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01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2F71B-0C2A-2D6F-8BDE-ADD07EF50E0F}"/>
              </a:ext>
            </a:extLst>
          </p:cNvPr>
          <p:cNvSpPr txBox="1"/>
          <p:nvPr/>
        </p:nvSpPr>
        <p:spPr>
          <a:xfrm>
            <a:off x="462280" y="13269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https://numpy.org/devdocs/user/basics.html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9701E-D06D-4CD6-77D3-EDC69DB14CEC}"/>
              </a:ext>
            </a:extLst>
          </p:cNvPr>
          <p:cNvSpPr txBox="1"/>
          <p:nvPr/>
        </p:nvSpPr>
        <p:spPr>
          <a:xfrm>
            <a:off x="2037080" y="1941592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Многомерный </a:t>
            </a:r>
            <a:r>
              <a:rPr lang="ru-RU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м</a:t>
            </a: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ассив как в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Данные храняться непрерывно в памяти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Все элементы одного типа</a:t>
            </a:r>
          </a:p>
          <a:p>
            <a:pPr marL="285750" indent="-285750">
              <a:buFontTx/>
              <a:buChar char="-"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Ве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кторизация операций (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broadcasting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Оптимизированные аггрегационные функции (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mean, std, ….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ru-RU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ru-RU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Как работать эффективно:</a:t>
            </a: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Избегайте циклов (есть поддержка срезов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view </a:t>
            </a:r>
            <a:r>
              <a:rPr lang="en-US" alt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arr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[0:3]</a:t>
            </a: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Пользуйтесь встроенными функциями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Используйте методы для изменения формы массива (</a:t>
            </a:r>
            <a:r>
              <a:rPr lang="en-US" dirty="0"/>
              <a:t>reshape, flatten, transpose</a:t>
            </a:r>
            <a:r>
              <a:rPr lang="ru-RU" dirty="0"/>
              <a:t>)</a:t>
            </a:r>
            <a:endParaRPr lang="ru-RU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36ED9DD-5EFC-D328-7CAE-0CC6EBA2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85" y="184805"/>
            <a:ext cx="7717500" cy="482400"/>
          </a:xfrm>
        </p:spPr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419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ED9DD-5EFC-D328-7CAE-0CC6EBA2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85" y="184805"/>
            <a:ext cx="7717500" cy="482400"/>
          </a:xfrm>
        </p:spPr>
        <p:txBody>
          <a:bodyPr/>
          <a:lstStyle/>
          <a:p>
            <a:r>
              <a:rPr lang="en-US" dirty="0"/>
              <a:t>pandas</a:t>
            </a:r>
          </a:p>
        </p:txBody>
      </p:sp>
      <p:pic>
        <p:nvPicPr>
          <p:cNvPr id="14338" name="Picture 2" descr="Pandas DataFrame">
            <a:extLst>
              <a:ext uri="{FF2B5EF4-FFF2-40B4-BE49-F238E27FC236}">
                <a16:creationId xmlns:a16="http://schemas.microsoft.com/office/drawing/2014/main" id="{90BA551C-C62D-46B1-44C2-6B08E47E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218" y="1397020"/>
            <a:ext cx="5881101" cy="317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59C8AF-C745-84C8-D874-C91CE1142C9A}"/>
              </a:ext>
            </a:extLst>
          </p:cNvPr>
          <p:cNvSpPr txBox="1"/>
          <p:nvPr/>
        </p:nvSpPr>
        <p:spPr>
          <a:xfrm>
            <a:off x="6276340" y="309611"/>
            <a:ext cx="4739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https://pandas.pydata.org/docs/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31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ED9DD-5EFC-D328-7CAE-0CC6EBA2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85" y="184805"/>
            <a:ext cx="7717500" cy="482400"/>
          </a:xfrm>
        </p:spPr>
        <p:txBody>
          <a:bodyPr/>
          <a:lstStyle/>
          <a:p>
            <a:r>
              <a:rPr lang="ru-RU" dirty="0"/>
              <a:t>Что важно для </a:t>
            </a:r>
            <a:r>
              <a:rPr lang="en-US" dirty="0"/>
              <a:t>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F6F4D-56F4-6D98-BDA2-F64522F160CF}"/>
              </a:ext>
            </a:extLst>
          </p:cNvPr>
          <p:cNvSpPr txBox="1"/>
          <p:nvPr/>
        </p:nvSpPr>
        <p:spPr>
          <a:xfrm>
            <a:off x="1524000" y="1861642"/>
            <a:ext cx="1223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  <a:t>Алгоритмы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57656-DD1B-7763-3571-D0B2864E03E9}"/>
              </a:ext>
            </a:extLst>
          </p:cNvPr>
          <p:cNvSpPr txBox="1"/>
          <p:nvPr/>
        </p:nvSpPr>
        <p:spPr>
          <a:xfrm>
            <a:off x="5110482" y="1861642"/>
            <a:ext cx="2419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  <a:t>Структуры данных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95B64D-1BA8-4A16-B9D9-284223EA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09" y="2169419"/>
            <a:ext cx="3342511" cy="21066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491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Линейные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алгоритмы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Выполнение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команд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друг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за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другом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Ветвящиеся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алгоритмы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условные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Выбор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одного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из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нескольких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путей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выполнения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команд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зависимости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от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условий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Циклические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алгоритмы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Повторное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выполнение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группы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команд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Рекурсивные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алгоритмы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CEC1A9D-57E9-D161-16F6-BE401F5C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0489" y="2400083"/>
            <a:ext cx="2306191" cy="629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491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…….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592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15DB7C-5F8B-24C7-B711-4AD63276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75" y="385038"/>
            <a:ext cx="7717500" cy="482400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  <a:t>Алгоритмы.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</a:rPr>
              <a:t>Leetcode</a:t>
            </a: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706282B-7462-30F4-712C-0A191C347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76" y="1468980"/>
            <a:ext cx="7242664" cy="3094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8719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Разбор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условия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задачи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Формулировка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задачи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указывает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формат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ввода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вывода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ограничения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для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данных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ввода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использования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памяти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вас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требуется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написать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быструю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программу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которая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уложится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ограничения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времени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использованию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памяти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Проектирование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вы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поняли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чём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состоит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задача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начинайте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проектировать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забудьте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доказать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что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он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работает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правильно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Реализация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алгоритм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спроектирован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его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можно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реализовать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вашем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языке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программирования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Тестирование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отладка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Тестирование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это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искусство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поиска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багов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Отладка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это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искусство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устранения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багов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готова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приступайте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к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тестированию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! А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если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обнаружите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баг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исправьте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его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и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протестируйте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программу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снова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Отправка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программы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оценку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 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Когда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программа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протестирована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сдайте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её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системе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оценки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Если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вы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увидите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сообщение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CoFoSansMono_bba9e6"/>
              </a:rPr>
              <a:t>OK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значит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всё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порядке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Если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нет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—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возвращайтесь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к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предыдущим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323232"/>
                </a:solidFill>
                <a:effectLst/>
                <a:latin typeface="__YSText_f6ad36"/>
              </a:rPr>
              <a:t>шагам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323232"/>
              </a:solidFill>
              <a:effectLst/>
              <a:latin typeface="__YSText_f6ad36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765963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5F5F5F"/>
      </a:lt2>
      <a:accent1>
        <a:srgbClr val="6C63FF"/>
      </a:accent1>
      <a:accent2>
        <a:srgbClr val="8EDBBF"/>
      </a:accent2>
      <a:accent3>
        <a:srgbClr val="F3F3F3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4561</TotalTime>
  <Words>1093</Words>
  <Application>Microsoft Office PowerPoint</Application>
  <PresentationFormat>On-screen Show (16:9)</PresentationFormat>
  <Paragraphs>160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__CoFoSans_319da3</vt:lpstr>
      <vt:lpstr>__CoFoSansMono_16cf16</vt:lpstr>
      <vt:lpstr>__CoFoSansMono_bba9e6</vt:lpstr>
      <vt:lpstr>__YSText_b6e006</vt:lpstr>
      <vt:lpstr>__YSText_f6ad36</vt:lpstr>
      <vt:lpstr>Arial</vt:lpstr>
      <vt:lpstr>Courier New</vt:lpstr>
      <vt:lpstr>Google Sans</vt:lpstr>
      <vt:lpstr>Inter</vt:lpstr>
      <vt:lpstr>Montserrat</vt:lpstr>
      <vt:lpstr>Montserrat Medium</vt:lpstr>
      <vt:lpstr>Times New Roman</vt:lpstr>
      <vt:lpstr>Timeline Infographics by Slidesgo</vt:lpstr>
      <vt:lpstr>Slidesgo Final Pages</vt:lpstr>
      <vt:lpstr>Эффективная работа с коллекциями в Python</vt:lpstr>
      <vt:lpstr>Почему важна алгоритмическая сложность</vt:lpstr>
      <vt:lpstr>В чем можно измерять сложность алгоритмов? </vt:lpstr>
      <vt:lpstr>Оценки сложности</vt:lpstr>
      <vt:lpstr>Оценки</vt:lpstr>
      <vt:lpstr>Оценки</vt:lpstr>
      <vt:lpstr>Зачем это нам?</vt:lpstr>
      <vt:lpstr>Коллекции в пайтон. Список </vt:lpstr>
      <vt:lpstr>Коллекции в пайтон.  Список </vt:lpstr>
      <vt:lpstr>Hash - функция </vt:lpstr>
      <vt:lpstr>Открытая адресация </vt:lpstr>
      <vt:lpstr>Dictionary </vt:lpstr>
      <vt:lpstr>Set </vt:lpstr>
      <vt:lpstr>deque </vt:lpstr>
      <vt:lpstr>stack </vt:lpstr>
      <vt:lpstr>Binary tree, B-tree </vt:lpstr>
      <vt:lpstr>numpy</vt:lpstr>
      <vt:lpstr>numpy</vt:lpstr>
      <vt:lpstr>pandas</vt:lpstr>
      <vt:lpstr>Что важно для DS</vt:lpstr>
      <vt:lpstr>Алгоритмы. Leetcode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semen</dc:creator>
  <cp:lastModifiedBy>Семен Косяченко</cp:lastModifiedBy>
  <cp:revision>7</cp:revision>
  <dcterms:modified xsi:type="dcterms:W3CDTF">2025-10-15T07:03:41Z</dcterms:modified>
</cp:coreProperties>
</file>